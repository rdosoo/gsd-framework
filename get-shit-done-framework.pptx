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GSD is an open-source meta-prompting and context engineering system that makes AI coding assistants reliable for building production software. Created by solo developer TACHES, trusted by engineers at Amazon, Google, Shopify, and Webflow.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Code is powerful, but quality degrades predictably with context usage. At 70%+ context, you get inconsistent, error-prone code. Existing spec-driven tools don't address this — they add sprint ceremonies and enterprise processes. GSD was built to solve context rot.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GSD hides significant complexity behind simple slash commands. You interact with a few commands; behind the scenes, the system manages 11 specialised agents, context windows, structured artifacts, and verification pipelines. Installs in one command, works cross-platform.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principles drive GSD. Plans are literal prompts — XML-structured instructions. Every execution unit gets a fresh context. Verification checks goals, not tasks. Claude automates everything it can. No sprint ceremonies or story points.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workflow is a loop: initialise once, then discuss, plan, execute, verify per phase. Each phase gets user input, proper research, clean execution in fresh contexts, and goal-backward verification. When all phases complete, archive the milestone and start the next version.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GSD manages Claude's context through structured artifacts with deliberate size constraints. PROJECT.md holds the vision. STATE.md is living memory read first everywhere. Plans are small enough for peak quality. Each executor gets fresh 200k tokens. The result is consistent output quality.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specialised agents coordinated by thin orchestrators. Research agents investigate in parallel. Planner creates plans, checker validates in a loop. Executors get fresh 200k-token contexts. Verifier confirms goals achieved. The orchestrator only spawns, waits, and integrates — your main session stays fast.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are structured XML optimised for Claude. Each task specifies exact files, precise actions, a verification command, and acceptance criteria. 2-3 tasks per plan keeps each executor in the peak quality zone. There's no ambiguity — Claude knows exactly what to build and how to verify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Execution is wave-based. Independent plans run in parallel, each in a fresh 200k-token context. Every completed task gets an atomic git commit. Walk away, come back to completed work with a clean, bisectable git history. Main context stays light.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is goal-backward. Level 1 checks files exist. Level 2 confirms real implementations, not stubs. Level 3 verifies wiring between components. If gaps are found, they feed back into the planner. The system never declares success just because tasks ran.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GSD is configurable. Model profiles balance quality vs API cost. Quality uses Opus everywhere, Balanced puts Opus on planning, Budget minimises Opus. You can also control planning depth, toggle workflow agents, set execution mode, and choose git branching strategy.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task needs full planning. Quick mode provides atomic commits and state tracking for small tasks. Session management handles pause/resume across context resets. For existing codebases, map-codebase analyses your stack so the system knows your patterns.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technical leadership: GSD provides predictable quality through verification, full traceability through atomic commits and structured artifacts, multi-runtime support without vendor lock-in, and it's MIT licensed with an active community. It's a practical tool for organisations exploring AI-augmented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started is one command: npx get-shit-done-cc. Verify with /gsd:help, start your first project, follow the core loop, and ship. The GitHub repo has full documentation and the Discord community is active. MIT licensed and evolving fast.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1371600"/>
          </a:xfrm>
          <a:prstGeom prst="rect">
            <a:avLst/>
          </a:prstGeom>
          <a:noFill/>
        </p:spPr>
        <p:txBody>
          <a:bodyPr wrap="square">
            <a:spAutoFit/>
          </a:bodyPr>
          <a:lstStyle/>
          <a:p>
            <a:pPr algn="ctr">
              <a:defRPr sz="5400" b="1">
                <a:solidFill>
                  <a:srgbClr val="FFFFFF"/>
                </a:solidFill>
                <a:latin typeface="Calibri Light"/>
              </a:defRPr>
            </a:pPr>
            <a:r>
              <a:t>GET SHIT DONE</a:t>
            </a:r>
          </a:p>
        </p:txBody>
      </p:sp>
      <p:sp>
        <p:nvSpPr>
          <p:cNvPr id="4" name="TextBox 3"/>
          <p:cNvSpPr txBox="1"/>
          <p:nvPr/>
        </p:nvSpPr>
        <p:spPr>
          <a:xfrm>
            <a:off x="1828800" y="3200400"/>
            <a:ext cx="8534095" cy="914400"/>
          </a:xfrm>
          <a:prstGeom prst="rect">
            <a:avLst/>
          </a:prstGeom>
          <a:noFill/>
        </p:spPr>
        <p:txBody>
          <a:bodyPr wrap="square">
            <a:spAutoFit/>
          </a:bodyPr>
          <a:lstStyle/>
          <a:p>
            <a:pPr algn="ctr">
              <a:defRPr sz="2200" b="0">
                <a:solidFill>
                  <a:srgbClr val="00B4D8"/>
                </a:solidFill>
                <a:latin typeface="Calibri"/>
              </a:defRPr>
            </a:pPr>
            <a:r>
              <a:t>A Context Engineering Framework for Reliable AI-Augmented Development</a:t>
            </a:r>
          </a:p>
        </p:txBody>
      </p:sp>
      <p:sp>
        <p:nvSpPr>
          <p:cNvPr id="5" name="TextBox 4"/>
          <p:cNvSpPr txBox="1"/>
          <p:nvPr/>
        </p:nvSpPr>
        <p:spPr>
          <a:xfrm>
            <a:off x="1828800" y="4572000"/>
            <a:ext cx="8534095" cy="457200"/>
          </a:xfrm>
          <a:prstGeom prst="rect">
            <a:avLst/>
          </a:prstGeom>
          <a:noFill/>
        </p:spPr>
        <p:txBody>
          <a:bodyPr wrap="square">
            <a:spAutoFit/>
          </a:bodyPr>
          <a:lstStyle/>
          <a:p>
            <a:pPr algn="ctr">
              <a:defRPr sz="1400" b="0">
                <a:solidFill>
                  <a:srgbClr val="999999"/>
                </a:solidFill>
                <a:latin typeface="Calibri"/>
              </a:defRPr>
            </a:pPr>
            <a:r>
              <a:t>github.com/glittercowboy/get-shit-done  |  MIT License  |  v1.11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600" b="1">
                <a:solidFill>
                  <a:srgbClr val="FFFFFF"/>
                </a:solidFill>
                <a:latin typeface="Calibri Light"/>
              </a:defRPr>
            </a:pPr>
            <a:r>
              <a:t>THE CONTEXT ROT PROBLEM</a:t>
            </a:r>
          </a:p>
        </p:txBody>
      </p:sp>
      <p:sp>
        <p:nvSpPr>
          <p:cNvPr id="3" name="Rectangle 2"/>
          <p:cNvSpPr/>
          <p:nvPr/>
        </p:nvSpPr>
        <p:spPr>
          <a:xfrm>
            <a:off x="731520" y="1097280"/>
            <a:ext cx="27432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28800"/>
            <a:ext cx="2286000" cy="13716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9600"/>
            <a:ext cx="1828800" cy="365760"/>
          </a:xfrm>
          <a:prstGeom prst="rect">
            <a:avLst/>
          </a:prstGeom>
          <a:noFill/>
        </p:spPr>
        <p:txBody>
          <a:bodyPr wrap="square">
            <a:spAutoFit/>
          </a:bodyPr>
          <a:lstStyle/>
          <a:p>
            <a:pPr algn="l">
              <a:defRPr sz="1400" b="1">
                <a:solidFill>
                  <a:srgbClr val="0F1A33"/>
                </a:solidFill>
                <a:latin typeface="Calibri"/>
              </a:defRPr>
            </a:pPr>
            <a:r>
              <a:t>0-30%  PEAK</a:t>
            </a:r>
          </a:p>
        </p:txBody>
      </p:sp>
      <p:sp>
        <p:nvSpPr>
          <p:cNvPr id="6" name="Rectangle 5"/>
          <p:cNvSpPr/>
          <p:nvPr/>
        </p:nvSpPr>
        <p:spPr>
          <a:xfrm>
            <a:off x="731520" y="2880360"/>
            <a:ext cx="2286000" cy="10972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31160"/>
            <a:ext cx="1828800" cy="365760"/>
          </a:xfrm>
          <a:prstGeom prst="rect">
            <a:avLst/>
          </a:prstGeom>
          <a:noFill/>
        </p:spPr>
        <p:txBody>
          <a:bodyPr wrap="square">
            <a:spAutoFit/>
          </a:bodyPr>
          <a:lstStyle/>
          <a:p>
            <a:pPr algn="l">
              <a:defRPr sz="1400" b="1">
                <a:solidFill>
                  <a:srgbClr val="0F1A33"/>
                </a:solidFill>
                <a:latin typeface="Calibri"/>
              </a:defRPr>
            </a:pPr>
            <a:r>
              <a:t>30-50%  GOOD</a:t>
            </a:r>
          </a:p>
        </p:txBody>
      </p:sp>
      <p:sp>
        <p:nvSpPr>
          <p:cNvPr id="8" name="Rectangle 7"/>
          <p:cNvSpPr/>
          <p:nvPr/>
        </p:nvSpPr>
        <p:spPr>
          <a:xfrm>
            <a:off x="731520" y="3931920"/>
            <a:ext cx="2286000" cy="8229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82720"/>
            <a:ext cx="1828800" cy="365760"/>
          </a:xfrm>
          <a:prstGeom prst="rect">
            <a:avLst/>
          </a:prstGeom>
          <a:noFill/>
        </p:spPr>
        <p:txBody>
          <a:bodyPr wrap="square">
            <a:spAutoFit/>
          </a:bodyPr>
          <a:lstStyle/>
          <a:p>
            <a:pPr algn="l">
              <a:defRPr sz="1400" b="1">
                <a:solidFill>
                  <a:srgbClr val="0F1A33"/>
                </a:solidFill>
                <a:latin typeface="Calibri"/>
              </a:defRPr>
            </a:pPr>
            <a:r>
              <a:t>50-70%  DEGRADING</a:t>
            </a:r>
          </a:p>
        </p:txBody>
      </p:sp>
      <p:sp>
        <p:nvSpPr>
          <p:cNvPr id="10" name="Rectangle 9"/>
          <p:cNvSpPr/>
          <p:nvPr/>
        </p:nvSpPr>
        <p:spPr>
          <a:xfrm>
            <a:off x="731520" y="4983479"/>
            <a:ext cx="2286000" cy="5486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034279"/>
            <a:ext cx="1828800" cy="365760"/>
          </a:xfrm>
          <a:prstGeom prst="rect">
            <a:avLst/>
          </a:prstGeom>
          <a:noFill/>
        </p:spPr>
        <p:txBody>
          <a:bodyPr wrap="square">
            <a:spAutoFit/>
          </a:bodyPr>
          <a:lstStyle/>
          <a:p>
            <a:pPr algn="l">
              <a:defRPr sz="1400" b="1">
                <a:solidFill>
                  <a:srgbClr val="0F1A33"/>
                </a:solidFill>
                <a:latin typeface="Calibri"/>
              </a:defRPr>
            </a:pPr>
            <a:r>
              <a:t>70%+  POOR</a:t>
            </a:r>
          </a:p>
        </p:txBody>
      </p:sp>
      <p:sp>
        <p:nvSpPr>
          <p:cNvPr id="12" name="TextBox 11"/>
          <p:cNvSpPr txBox="1"/>
          <p:nvPr/>
        </p:nvSpPr>
        <p:spPr>
          <a:xfrm>
            <a:off x="731520" y="5760720"/>
            <a:ext cx="3657600" cy="457200"/>
          </a:xfrm>
          <a:prstGeom prst="rect">
            <a:avLst/>
          </a:prstGeom>
          <a:noFill/>
        </p:spPr>
        <p:txBody>
          <a:bodyPr wrap="square">
            <a:spAutoFit/>
          </a:bodyPr>
          <a:lstStyle/>
          <a:p>
            <a:pPr algn="l">
              <a:defRPr sz="1300" b="0">
                <a:solidFill>
                  <a:srgbClr val="999999"/>
                </a:solidFill>
                <a:latin typeface="Calibri"/>
              </a:defRPr>
            </a:pPr>
            <a:r>
              <a:t>Context Window Usage → Quality Degrades</a:t>
            </a:r>
          </a:p>
        </p:txBody>
      </p:sp>
      <p:sp>
        <p:nvSpPr>
          <p:cNvPr id="13" name="TextBox 12"/>
          <p:cNvSpPr txBox="1"/>
          <p:nvPr/>
        </p:nvSpPr>
        <p:spPr>
          <a:xfrm>
            <a:off x="5943600" y="1828800"/>
            <a:ext cx="5486400" cy="4114800"/>
          </a:xfrm>
          <a:prstGeom prst="rect">
            <a:avLst/>
          </a:prstGeom>
          <a:noFill/>
        </p:spPr>
        <p:txBody>
          <a:bodyPr wrap="square">
            <a:spAutoFit/>
          </a:bodyPr>
          <a:lstStyle/>
          <a:p>
            <a:pPr>
              <a:spcAft>
                <a:spcPts val="1400"/>
              </a:spcAft>
              <a:defRPr sz="1800">
                <a:solidFill>
                  <a:srgbClr val="FFFFFF"/>
                </a:solidFill>
                <a:latin typeface="Calibri"/>
              </a:defRPr>
            </a:pPr>
            <a:r>
              <a:t>▶  AI output degrades as context fills up</a:t>
            </a:r>
          </a:p>
          <a:p>
            <a:pPr>
              <a:spcAft>
                <a:spcPts val="1400"/>
              </a:spcAft>
              <a:defRPr sz="1800">
                <a:solidFill>
                  <a:srgbClr val="FFFFFF"/>
                </a:solidFill>
                <a:latin typeface="Calibri"/>
              </a:defRPr>
            </a:pPr>
            <a:r>
              <a:t>▶  "Vibecoding" produces inconsistent results at scale</a:t>
            </a:r>
          </a:p>
          <a:p>
            <a:pPr>
              <a:spcAft>
                <a:spcPts val="1400"/>
              </a:spcAft>
              <a:defRPr sz="1800">
                <a:solidFill>
                  <a:srgbClr val="FFFFFF"/>
                </a:solidFill>
                <a:latin typeface="Calibri"/>
              </a:defRPr>
            </a:pPr>
            <a:r>
              <a:t>▶  Existing tools add enterprise overhead</a:t>
            </a:r>
          </a:p>
          <a:p>
            <a:pPr>
              <a:spcAft>
                <a:spcPts val="1400"/>
              </a:spcAft>
              <a:defRPr sz="1800">
                <a:solidFill>
                  <a:srgbClr val="FFFFFF"/>
                </a:solidFill>
                <a:latin typeface="Calibri"/>
              </a:defRPr>
            </a:pPr>
            <a:r>
              <a:t>▶  No systematic approach to context management</a:t>
            </a:r>
          </a:p>
          <a:p>
            <a:pPr>
              <a:spcAft>
                <a:spcPts val="1400"/>
              </a:spcAft>
              <a:defRPr sz="1800">
                <a:solidFill>
                  <a:srgbClr val="FFFFFF"/>
                </a:solidFill>
                <a:latin typeface="Calibri"/>
              </a:defRPr>
            </a:pPr>
            <a:r>
              <a:t>▶  Session continuity is lost across resets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WHAT IS GSD?</a:t>
            </a:r>
          </a:p>
        </p:txBody>
      </p:sp>
      <p:sp>
        <p:nvSpPr>
          <p:cNvPr id="3" name="Rectangle 2"/>
          <p:cNvSpPr/>
          <p:nvPr/>
        </p:nvSpPr>
        <p:spPr>
          <a:xfrm>
            <a:off x="731520" y="1097280"/>
            <a:ext cx="18288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029200" cy="457200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4114800" cy="457200"/>
          </a:xfrm>
          <a:prstGeom prst="rect">
            <a:avLst/>
          </a:prstGeom>
          <a:noFill/>
        </p:spPr>
        <p:txBody>
          <a:bodyPr wrap="square">
            <a:spAutoFit/>
          </a:bodyPr>
          <a:lstStyle/>
          <a:p>
            <a:pPr algn="l">
              <a:defRPr sz="2000" b="1">
                <a:solidFill>
                  <a:srgbClr val="00B4D8"/>
                </a:solidFill>
                <a:latin typeface="Calibri"/>
              </a:defRPr>
            </a:pPr>
            <a:r>
              <a:t>WHAT YOU SEE</a:t>
            </a:r>
          </a:p>
        </p:txBody>
      </p:sp>
      <p:sp>
        <p:nvSpPr>
          <p:cNvPr id="6" name="TextBox 5"/>
          <p:cNvSpPr txBox="1"/>
          <p:nvPr/>
        </p:nvSpPr>
        <p:spPr>
          <a:xfrm>
            <a:off x="1097280" y="2468880"/>
            <a:ext cx="4114800" cy="3200400"/>
          </a:xfrm>
          <a:prstGeom prst="rect">
            <a:avLst/>
          </a:prstGeom>
          <a:noFill/>
        </p:spPr>
        <p:txBody>
          <a:bodyPr wrap="square">
            <a:spAutoFit/>
          </a:bodyPr>
          <a:lstStyle/>
          <a:p>
            <a:pPr>
              <a:spcAft>
                <a:spcPts val="1200"/>
              </a:spcAft>
              <a:defRPr sz="1700">
                <a:solidFill>
                  <a:srgbClr val="E8EEF4"/>
                </a:solidFill>
                <a:latin typeface="Calibri"/>
              </a:defRPr>
            </a:pPr>
            <a:r>
              <a:t>npx get-shit-done-cc</a:t>
            </a:r>
          </a:p>
          <a:p>
            <a:pPr>
              <a:spcAft>
                <a:spcPts val="1200"/>
              </a:spcAft>
              <a:defRPr sz="1700">
                <a:solidFill>
                  <a:srgbClr val="E8EEF4"/>
                </a:solidFill>
                <a:latin typeface="Calibri"/>
              </a:defRPr>
            </a:pPr>
            <a:r>
              <a:t>/gsd:new-project</a:t>
            </a:r>
          </a:p>
          <a:p>
            <a:pPr>
              <a:spcAft>
                <a:spcPts val="1200"/>
              </a:spcAft>
              <a:defRPr sz="1700">
                <a:solidFill>
                  <a:srgbClr val="E8EEF4"/>
                </a:solidFill>
                <a:latin typeface="Calibri"/>
              </a:defRPr>
            </a:pPr>
            <a:r>
              <a:t>/gsd:plan-phase 1</a:t>
            </a:r>
          </a:p>
          <a:p>
            <a:pPr>
              <a:spcAft>
                <a:spcPts val="1200"/>
              </a:spcAft>
              <a:defRPr sz="1700">
                <a:solidFill>
                  <a:srgbClr val="E8EEF4"/>
                </a:solidFill>
                <a:latin typeface="Calibri"/>
              </a:defRPr>
            </a:pPr>
            <a:r>
              <a:t>/gsd:execute-phase 1</a:t>
            </a:r>
          </a:p>
          <a:p>
            <a:pPr>
              <a:spcAft>
                <a:spcPts val="1200"/>
              </a:spcAft>
              <a:defRPr sz="1700">
                <a:solidFill>
                  <a:srgbClr val="E8EEF4"/>
                </a:solidFill>
                <a:latin typeface="Calibri"/>
              </a:defRPr>
            </a:pPr>
            <a:r>
              <a:t>/gsd:verify-work 1</a:t>
            </a:r>
          </a:p>
        </p:txBody>
      </p:sp>
      <p:sp>
        <p:nvSpPr>
          <p:cNvPr id="7" name="Rounded Rectangle 6"/>
          <p:cNvSpPr/>
          <p:nvPr/>
        </p:nvSpPr>
        <p:spPr>
          <a:xfrm>
            <a:off x="6400800" y="1645920"/>
            <a:ext cx="5029200" cy="457200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828800"/>
            <a:ext cx="4114800" cy="457200"/>
          </a:xfrm>
          <a:prstGeom prst="rect">
            <a:avLst/>
          </a:prstGeom>
          <a:noFill/>
        </p:spPr>
        <p:txBody>
          <a:bodyPr wrap="square">
            <a:spAutoFit/>
          </a:bodyPr>
          <a:lstStyle/>
          <a:p>
            <a:pPr algn="l">
              <a:defRPr sz="2000" b="1">
                <a:solidFill>
                  <a:srgbClr val="FF6B35"/>
                </a:solidFill>
                <a:latin typeface="Calibri"/>
              </a:defRPr>
            </a:pPr>
            <a:r>
              <a:t>WHAT'S HAPPENING</a:t>
            </a:r>
          </a:p>
        </p:txBody>
      </p:sp>
      <p:sp>
        <p:nvSpPr>
          <p:cNvPr id="9" name="TextBox 8"/>
          <p:cNvSpPr txBox="1"/>
          <p:nvPr/>
        </p:nvSpPr>
        <p:spPr>
          <a:xfrm>
            <a:off x="6766560" y="2468880"/>
            <a:ext cx="4114800" cy="3200400"/>
          </a:xfrm>
          <a:prstGeom prst="rect">
            <a:avLst/>
          </a:prstGeom>
          <a:noFill/>
        </p:spPr>
        <p:txBody>
          <a:bodyPr wrap="square">
            <a:spAutoFit/>
          </a:bodyPr>
          <a:lstStyle/>
          <a:p>
            <a:pPr>
              <a:spcAft>
                <a:spcPts val="1200"/>
              </a:spcAft>
              <a:defRPr sz="1700">
                <a:solidFill>
                  <a:srgbClr val="E8EEF4"/>
                </a:solidFill>
                <a:latin typeface="Calibri"/>
              </a:defRPr>
            </a:pPr>
            <a:r>
              <a:t>11 specialised AI agents</a:t>
            </a:r>
          </a:p>
          <a:p>
            <a:pPr>
              <a:spcAft>
                <a:spcPts val="1200"/>
              </a:spcAft>
              <a:defRPr sz="1700">
                <a:solidFill>
                  <a:srgbClr val="E8EEF4"/>
                </a:solidFill>
                <a:latin typeface="Calibri"/>
              </a:defRPr>
            </a:pPr>
            <a:r>
              <a:t>Context window management</a:t>
            </a:r>
          </a:p>
          <a:p>
            <a:pPr>
              <a:spcAft>
                <a:spcPts val="1200"/>
              </a:spcAft>
              <a:defRPr sz="1700">
                <a:solidFill>
                  <a:srgbClr val="E8EEF4"/>
                </a:solidFill>
                <a:latin typeface="Calibri"/>
              </a:defRPr>
            </a:pPr>
            <a:r>
              <a:t>XML prompt formatting</a:t>
            </a:r>
          </a:p>
          <a:p>
            <a:pPr>
              <a:spcAft>
                <a:spcPts val="1200"/>
              </a:spcAft>
              <a:defRPr sz="1700">
                <a:solidFill>
                  <a:srgbClr val="E8EEF4"/>
                </a:solidFill>
                <a:latin typeface="Calibri"/>
              </a:defRPr>
            </a:pPr>
            <a:r>
              <a:t>Subagent orchestration</a:t>
            </a:r>
          </a:p>
          <a:p>
            <a:pPr>
              <a:spcAft>
                <a:spcPts val="1200"/>
              </a:spcAft>
              <a:defRPr sz="1700">
                <a:solidFill>
                  <a:srgbClr val="E8EEF4"/>
                </a:solidFill>
                <a:latin typeface="Calibri"/>
              </a:defRPr>
            </a:pPr>
            <a:r>
              <a:t>State persistence &amp; recovery</a:t>
            </a:r>
          </a:p>
        </p:txBody>
      </p:sp>
      <p:sp>
        <p:nvSpPr>
          <p:cNvPr id="10" name="TextBox 9"/>
          <p:cNvSpPr txBox="1"/>
          <p:nvPr/>
        </p:nvSpPr>
        <p:spPr>
          <a:xfrm>
            <a:off x="731520" y="6309360"/>
            <a:ext cx="10515600" cy="457200"/>
          </a:xfrm>
          <a:prstGeom prst="rect">
            <a:avLst/>
          </a:prstGeom>
          <a:noFill/>
        </p:spPr>
        <p:txBody>
          <a:bodyPr wrap="square">
            <a:spAutoFit/>
          </a:bodyPr>
          <a:lstStyle/>
          <a:p>
            <a:pPr algn="ctr">
              <a:defRPr sz="1400" b="0">
                <a:solidFill>
                  <a:srgbClr val="999999"/>
                </a:solidFill>
                <a:latin typeface="Calibri"/>
              </a:defRPr>
            </a:pPr>
            <a:r>
              <a:t>Supports Claude Code  •  OpenCode  •  Gemini CLI   |   Mac, Windows, Linux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DESIGN PRINCIPLES</a:t>
            </a:r>
          </a:p>
        </p:txBody>
      </p:sp>
      <p:sp>
        <p:nvSpPr>
          <p:cNvPr id="3" name="Rectangle 2"/>
          <p:cNvSpPr/>
          <p:nvPr/>
        </p:nvSpPr>
        <p:spPr>
          <a:xfrm>
            <a:off x="731520" y="1097280"/>
            <a:ext cx="22860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828800"/>
            <a:ext cx="2103120" cy="411480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25880" y="2103120"/>
            <a:ext cx="548640" cy="5486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0F1A33"/>
                </a:solidFill>
              </a:defRPr>
            </a:pPr>
            <a:r>
              <a:t>1</a:t>
            </a:r>
          </a:p>
        </p:txBody>
      </p:sp>
      <p:sp>
        <p:nvSpPr>
          <p:cNvPr id="6" name="TextBox 5"/>
          <p:cNvSpPr txBox="1"/>
          <p:nvPr/>
        </p:nvSpPr>
        <p:spPr>
          <a:xfrm>
            <a:off x="685800" y="2926080"/>
            <a:ext cx="1828800" cy="822960"/>
          </a:xfrm>
          <a:prstGeom prst="rect">
            <a:avLst/>
          </a:prstGeom>
          <a:noFill/>
        </p:spPr>
        <p:txBody>
          <a:bodyPr wrap="square">
            <a:spAutoFit/>
          </a:bodyPr>
          <a:lstStyle/>
          <a:p>
            <a:pPr algn="ctr">
              <a:defRPr sz="1400" b="1">
                <a:solidFill>
                  <a:srgbClr val="00B4D8"/>
                </a:solidFill>
                <a:latin typeface="Calibri"/>
              </a:defRPr>
            </a:pPr>
            <a:r>
              <a:t>PLANS = PROMPTS</a:t>
            </a:r>
          </a:p>
        </p:txBody>
      </p:sp>
      <p:sp>
        <p:nvSpPr>
          <p:cNvPr id="7" name="TextBox 6"/>
          <p:cNvSpPr txBox="1"/>
          <p:nvPr/>
        </p:nvSpPr>
        <p:spPr>
          <a:xfrm>
            <a:off x="685800" y="4023360"/>
            <a:ext cx="1828800" cy="1371600"/>
          </a:xfrm>
          <a:prstGeom prst="rect">
            <a:avLst/>
          </a:prstGeom>
          <a:noFill/>
        </p:spPr>
        <p:txBody>
          <a:bodyPr wrap="square">
            <a:spAutoFit/>
          </a:bodyPr>
          <a:lstStyle/>
          <a:p>
            <a:pPr algn="ctr">
              <a:defRPr sz="1200" b="0">
                <a:solidFill>
                  <a:srgbClr val="E8EEF4"/>
                </a:solidFill>
                <a:latin typeface="Calibri"/>
              </a:defRPr>
            </a:pPr>
            <a:r>
              <a:t>XML-structured executable instructions,</a:t>
            </a:r>
            <a:br/>
            <a:r>
              <a:t>not documents to interpret</a:t>
            </a:r>
          </a:p>
        </p:txBody>
      </p:sp>
      <p:sp>
        <p:nvSpPr>
          <p:cNvPr id="8" name="Rounded Rectangle 7"/>
          <p:cNvSpPr/>
          <p:nvPr/>
        </p:nvSpPr>
        <p:spPr>
          <a:xfrm>
            <a:off x="2834640" y="1828800"/>
            <a:ext cx="2103120" cy="411480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11880" y="2103120"/>
            <a:ext cx="548640" cy="54864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0F1A33"/>
                </a:solidFill>
              </a:defRPr>
            </a:pPr>
            <a:r>
              <a:t>2</a:t>
            </a:r>
          </a:p>
        </p:txBody>
      </p:sp>
      <p:sp>
        <p:nvSpPr>
          <p:cNvPr id="10" name="TextBox 9"/>
          <p:cNvSpPr txBox="1"/>
          <p:nvPr/>
        </p:nvSpPr>
        <p:spPr>
          <a:xfrm>
            <a:off x="2971800" y="2926080"/>
            <a:ext cx="1828800" cy="822960"/>
          </a:xfrm>
          <a:prstGeom prst="rect">
            <a:avLst/>
          </a:prstGeom>
          <a:noFill/>
        </p:spPr>
        <p:txBody>
          <a:bodyPr wrap="square">
            <a:spAutoFit/>
          </a:bodyPr>
          <a:lstStyle/>
          <a:p>
            <a:pPr algn="ctr">
              <a:defRPr sz="1400" b="1">
                <a:solidFill>
                  <a:srgbClr val="2ECC71"/>
                </a:solidFill>
                <a:latin typeface="Calibri"/>
              </a:defRPr>
            </a:pPr>
            <a:r>
              <a:t>FRESH CONTEXTS</a:t>
            </a:r>
          </a:p>
        </p:txBody>
      </p:sp>
      <p:sp>
        <p:nvSpPr>
          <p:cNvPr id="11" name="TextBox 10"/>
          <p:cNvSpPr txBox="1"/>
          <p:nvPr/>
        </p:nvSpPr>
        <p:spPr>
          <a:xfrm>
            <a:off x="2971800" y="4023360"/>
            <a:ext cx="1828800" cy="1371600"/>
          </a:xfrm>
          <a:prstGeom prst="rect">
            <a:avLst/>
          </a:prstGeom>
          <a:noFill/>
        </p:spPr>
        <p:txBody>
          <a:bodyPr wrap="square">
            <a:spAutoFit/>
          </a:bodyPr>
          <a:lstStyle/>
          <a:p>
            <a:pPr algn="ctr">
              <a:defRPr sz="1200" b="0">
                <a:solidFill>
                  <a:srgbClr val="E8EEF4"/>
                </a:solidFill>
                <a:latin typeface="Calibri"/>
              </a:defRPr>
            </a:pPr>
            <a:r>
              <a:t>200k-token windows per execution</a:t>
            </a:r>
            <a:br/>
            <a:r>
              <a:t>unit — peak quality zone</a:t>
            </a:r>
          </a:p>
        </p:txBody>
      </p:sp>
      <p:sp>
        <p:nvSpPr>
          <p:cNvPr id="12" name="Rounded Rectangle 11"/>
          <p:cNvSpPr/>
          <p:nvPr/>
        </p:nvSpPr>
        <p:spPr>
          <a:xfrm>
            <a:off x="5120640" y="1828800"/>
            <a:ext cx="2103120" cy="411480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97880" y="2103120"/>
            <a:ext cx="548640" cy="54864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0F1A33"/>
                </a:solidFill>
              </a:defRPr>
            </a:pPr>
            <a:r>
              <a:t>3</a:t>
            </a:r>
          </a:p>
        </p:txBody>
      </p:sp>
      <p:sp>
        <p:nvSpPr>
          <p:cNvPr id="14" name="TextBox 13"/>
          <p:cNvSpPr txBox="1"/>
          <p:nvPr/>
        </p:nvSpPr>
        <p:spPr>
          <a:xfrm>
            <a:off x="5257800" y="2926080"/>
            <a:ext cx="1828800" cy="822960"/>
          </a:xfrm>
          <a:prstGeom prst="rect">
            <a:avLst/>
          </a:prstGeom>
          <a:noFill/>
        </p:spPr>
        <p:txBody>
          <a:bodyPr wrap="square">
            <a:spAutoFit/>
          </a:bodyPr>
          <a:lstStyle/>
          <a:p>
            <a:pPr algn="ctr">
              <a:defRPr sz="1400" b="1">
                <a:solidFill>
                  <a:srgbClr val="FF6B35"/>
                </a:solidFill>
                <a:latin typeface="Calibri"/>
              </a:defRPr>
            </a:pPr>
            <a:r>
              <a:t>GOAL-BACKWARD</a:t>
            </a:r>
          </a:p>
        </p:txBody>
      </p:sp>
      <p:sp>
        <p:nvSpPr>
          <p:cNvPr id="15" name="TextBox 14"/>
          <p:cNvSpPr txBox="1"/>
          <p:nvPr/>
        </p:nvSpPr>
        <p:spPr>
          <a:xfrm>
            <a:off x="5257800" y="4023360"/>
            <a:ext cx="1828800" cy="1371600"/>
          </a:xfrm>
          <a:prstGeom prst="rect">
            <a:avLst/>
          </a:prstGeom>
          <a:noFill/>
        </p:spPr>
        <p:txBody>
          <a:bodyPr wrap="square">
            <a:spAutoFit/>
          </a:bodyPr>
          <a:lstStyle/>
          <a:p>
            <a:pPr algn="ctr">
              <a:defRPr sz="1200" b="0">
                <a:solidFill>
                  <a:srgbClr val="E8EEF4"/>
                </a:solidFill>
                <a:latin typeface="Calibri"/>
              </a:defRPr>
            </a:pPr>
            <a:r>
              <a:t>Verify outcomes match intent,</a:t>
            </a:r>
            <a:br/>
            <a:r>
              <a:t>not just task completion</a:t>
            </a:r>
          </a:p>
        </p:txBody>
      </p:sp>
      <p:sp>
        <p:nvSpPr>
          <p:cNvPr id="16" name="Rounded Rectangle 15"/>
          <p:cNvSpPr/>
          <p:nvPr/>
        </p:nvSpPr>
        <p:spPr>
          <a:xfrm>
            <a:off x="7406640" y="1828800"/>
            <a:ext cx="2103120" cy="411480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2103120"/>
            <a:ext cx="548640" cy="5486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0F1A33"/>
                </a:solidFill>
              </a:defRPr>
            </a:pPr>
            <a:r>
              <a:t>4</a:t>
            </a:r>
          </a:p>
        </p:txBody>
      </p:sp>
      <p:sp>
        <p:nvSpPr>
          <p:cNvPr id="18" name="TextBox 17"/>
          <p:cNvSpPr txBox="1"/>
          <p:nvPr/>
        </p:nvSpPr>
        <p:spPr>
          <a:xfrm>
            <a:off x="7543800" y="2926080"/>
            <a:ext cx="1828800" cy="822960"/>
          </a:xfrm>
          <a:prstGeom prst="rect">
            <a:avLst/>
          </a:prstGeom>
          <a:noFill/>
        </p:spPr>
        <p:txBody>
          <a:bodyPr wrap="square">
            <a:spAutoFit/>
          </a:bodyPr>
          <a:lstStyle/>
          <a:p>
            <a:pPr algn="ctr">
              <a:defRPr sz="1400" b="1">
                <a:solidFill>
                  <a:srgbClr val="00B4D8"/>
                </a:solidFill>
                <a:latin typeface="Calibri"/>
              </a:defRPr>
            </a:pPr>
            <a:r>
              <a:t>AUTOMATION-FIRST</a:t>
            </a:r>
          </a:p>
        </p:txBody>
      </p:sp>
      <p:sp>
        <p:nvSpPr>
          <p:cNvPr id="19" name="TextBox 18"/>
          <p:cNvSpPr txBox="1"/>
          <p:nvPr/>
        </p:nvSpPr>
        <p:spPr>
          <a:xfrm>
            <a:off x="7543800" y="4023360"/>
            <a:ext cx="1828800" cy="1371600"/>
          </a:xfrm>
          <a:prstGeom prst="rect">
            <a:avLst/>
          </a:prstGeom>
          <a:noFill/>
        </p:spPr>
        <p:txBody>
          <a:bodyPr wrap="square">
            <a:spAutoFit/>
          </a:bodyPr>
          <a:lstStyle/>
          <a:p>
            <a:pPr algn="ctr">
              <a:defRPr sz="1200" b="0">
                <a:solidFill>
                  <a:srgbClr val="E8EEF4"/>
                </a:solidFill>
                <a:latin typeface="Calibri"/>
              </a:defRPr>
            </a:pPr>
            <a:r>
              <a:t>Claude does the work;</a:t>
            </a:r>
            <a:br/>
            <a:r>
              <a:t>humans verify and decide</a:t>
            </a:r>
          </a:p>
        </p:txBody>
      </p:sp>
      <p:sp>
        <p:nvSpPr>
          <p:cNvPr id="20" name="Rounded Rectangle 19"/>
          <p:cNvSpPr/>
          <p:nvPr/>
        </p:nvSpPr>
        <p:spPr>
          <a:xfrm>
            <a:off x="9692640" y="1828800"/>
            <a:ext cx="2103120" cy="411480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69880" y="2103120"/>
            <a:ext cx="548640" cy="54864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0F1A33"/>
                </a:solidFill>
              </a:defRPr>
            </a:pPr>
            <a:r>
              <a:t>5</a:t>
            </a:r>
          </a:p>
        </p:txBody>
      </p:sp>
      <p:sp>
        <p:nvSpPr>
          <p:cNvPr id="22" name="TextBox 21"/>
          <p:cNvSpPr txBox="1"/>
          <p:nvPr/>
        </p:nvSpPr>
        <p:spPr>
          <a:xfrm>
            <a:off x="9829800" y="2926080"/>
            <a:ext cx="1828800" cy="822960"/>
          </a:xfrm>
          <a:prstGeom prst="rect">
            <a:avLst/>
          </a:prstGeom>
          <a:noFill/>
        </p:spPr>
        <p:txBody>
          <a:bodyPr wrap="square">
            <a:spAutoFit/>
          </a:bodyPr>
          <a:lstStyle/>
          <a:p>
            <a:pPr algn="ctr">
              <a:defRPr sz="1400" b="1">
                <a:solidFill>
                  <a:srgbClr val="FF6B35"/>
                </a:solidFill>
                <a:latin typeface="Calibri"/>
              </a:defRPr>
            </a:pPr>
            <a:r>
              <a:t>NO ENTERPRISE</a:t>
            </a:r>
            <a:br/>
            <a:r>
              <a:t>THEATRE</a:t>
            </a:r>
          </a:p>
        </p:txBody>
      </p:sp>
      <p:sp>
        <p:nvSpPr>
          <p:cNvPr id="23" name="TextBox 22"/>
          <p:cNvSpPr txBox="1"/>
          <p:nvPr/>
        </p:nvSpPr>
        <p:spPr>
          <a:xfrm>
            <a:off x="9829800" y="4023360"/>
            <a:ext cx="1828800" cy="1371600"/>
          </a:xfrm>
          <a:prstGeom prst="rect">
            <a:avLst/>
          </a:prstGeom>
          <a:noFill/>
        </p:spPr>
        <p:txBody>
          <a:bodyPr wrap="square">
            <a:spAutoFit/>
          </a:bodyPr>
          <a:lstStyle/>
          <a:p>
            <a:pPr algn="ctr">
              <a:defRPr sz="1200" b="0">
                <a:solidFill>
                  <a:srgbClr val="E8EEF4"/>
                </a:solidFill>
                <a:latin typeface="Calibri"/>
              </a:defRPr>
            </a:pPr>
            <a:r>
              <a:t>Built for builders, not</a:t>
            </a:r>
            <a:br/>
            <a:r>
              <a:t>bureaucrats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THE CORE WORKFLOW</a:t>
            </a:r>
          </a:p>
        </p:txBody>
      </p:sp>
      <p:sp>
        <p:nvSpPr>
          <p:cNvPr id="3" name="Rectangle 2"/>
          <p:cNvSpPr/>
          <p:nvPr/>
        </p:nvSpPr>
        <p:spPr>
          <a:xfrm>
            <a:off x="731520" y="1097280"/>
            <a:ext cx="22860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0" y="1554480"/>
            <a:ext cx="3931920" cy="731520"/>
          </a:xfrm>
          <a:prstGeom prst="roundRect">
            <a:avLst/>
          </a:prstGeom>
          <a:solidFill>
            <a:srgbClr val="1B2A4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B4D8"/>
                </a:solidFill>
              </a:defRPr>
            </a:pPr>
            <a:r>
              <a:t>/gsd:new-project</a:t>
            </a:r>
          </a:p>
          <a:p>
            <a:pPr algn="ctr">
              <a:defRPr sz="1100">
                <a:solidFill>
                  <a:srgbClr val="CCCCCC"/>
                </a:solidFill>
              </a:defRPr>
            </a:pPr>
            <a:r>
              <a:t>Questions → Research → Requirements → Roadmap</a:t>
            </a:r>
          </a:p>
        </p:txBody>
      </p:sp>
      <p:sp>
        <p:nvSpPr>
          <p:cNvPr id="5" name="Rounded Rectangle 4"/>
          <p:cNvSpPr/>
          <p:nvPr/>
        </p:nvSpPr>
        <p:spPr>
          <a:xfrm>
            <a:off x="457200" y="2926080"/>
            <a:ext cx="2560320" cy="228600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108960"/>
            <a:ext cx="2194560" cy="457200"/>
          </a:xfrm>
          <a:prstGeom prst="rect">
            <a:avLst/>
          </a:prstGeom>
          <a:noFill/>
        </p:spPr>
        <p:txBody>
          <a:bodyPr wrap="square">
            <a:spAutoFit/>
          </a:bodyPr>
          <a:lstStyle/>
          <a:p>
            <a:pPr algn="ctr">
              <a:defRPr sz="2200" b="1">
                <a:solidFill>
                  <a:srgbClr val="00B4D8"/>
                </a:solidFill>
                <a:latin typeface="Calibri"/>
              </a:defRPr>
            </a:pPr>
            <a:r>
              <a:t>DISCUSS</a:t>
            </a:r>
          </a:p>
        </p:txBody>
      </p:sp>
      <p:sp>
        <p:nvSpPr>
          <p:cNvPr id="7" name="TextBox 6"/>
          <p:cNvSpPr txBox="1"/>
          <p:nvPr/>
        </p:nvSpPr>
        <p:spPr>
          <a:xfrm>
            <a:off x="640080" y="3657600"/>
            <a:ext cx="2194560" cy="365760"/>
          </a:xfrm>
          <a:prstGeom prst="rect">
            <a:avLst/>
          </a:prstGeom>
          <a:noFill/>
        </p:spPr>
        <p:txBody>
          <a:bodyPr wrap="square">
            <a:spAutoFit/>
          </a:bodyPr>
          <a:lstStyle/>
          <a:p>
            <a:pPr algn="ctr">
              <a:defRPr sz="1100" b="0">
                <a:solidFill>
                  <a:srgbClr val="CCCCCC"/>
                </a:solidFill>
                <a:latin typeface="Calibri"/>
              </a:defRPr>
            </a:pPr>
            <a:r>
              <a:t>/gsd:discuss-phase N</a:t>
            </a:r>
          </a:p>
        </p:txBody>
      </p:sp>
      <p:sp>
        <p:nvSpPr>
          <p:cNvPr id="8" name="TextBox 7"/>
          <p:cNvSpPr txBox="1"/>
          <p:nvPr/>
        </p:nvSpPr>
        <p:spPr>
          <a:xfrm>
            <a:off x="640080" y="4114800"/>
            <a:ext cx="2194560" cy="914400"/>
          </a:xfrm>
          <a:prstGeom prst="rect">
            <a:avLst/>
          </a:prstGeom>
          <a:noFill/>
        </p:spPr>
        <p:txBody>
          <a:bodyPr wrap="square">
            <a:spAutoFit/>
          </a:bodyPr>
          <a:lstStyle/>
          <a:p>
            <a:pPr algn="ctr">
              <a:defRPr sz="1300" b="0">
                <a:solidFill>
                  <a:srgbClr val="E8EEF4"/>
                </a:solidFill>
                <a:latin typeface="Calibri"/>
              </a:defRPr>
            </a:pPr>
            <a:r>
              <a:t>Capture user</a:t>
            </a:r>
            <a:br/>
            <a:r>
              <a:t>preferences</a:t>
            </a:r>
          </a:p>
        </p:txBody>
      </p:sp>
      <p:sp>
        <p:nvSpPr>
          <p:cNvPr id="9" name="TextBox 8"/>
          <p:cNvSpPr txBox="1"/>
          <p:nvPr/>
        </p:nvSpPr>
        <p:spPr>
          <a:xfrm>
            <a:off x="3063240" y="3749040"/>
            <a:ext cx="365760" cy="457200"/>
          </a:xfrm>
          <a:prstGeom prst="rect">
            <a:avLst/>
          </a:prstGeom>
          <a:noFill/>
        </p:spPr>
        <p:txBody>
          <a:bodyPr wrap="square">
            <a:spAutoFit/>
          </a:bodyPr>
          <a:lstStyle/>
          <a:p>
            <a:pPr algn="ctr">
              <a:defRPr sz="2000" b="0">
                <a:solidFill>
                  <a:srgbClr val="999999"/>
                </a:solidFill>
                <a:latin typeface="Calibri"/>
              </a:defRPr>
            </a:pPr>
            <a:r>
              <a:t>▶</a:t>
            </a:r>
          </a:p>
        </p:txBody>
      </p:sp>
      <p:sp>
        <p:nvSpPr>
          <p:cNvPr id="10" name="Rounded Rectangle 9"/>
          <p:cNvSpPr/>
          <p:nvPr/>
        </p:nvSpPr>
        <p:spPr>
          <a:xfrm>
            <a:off x="3383280" y="2926080"/>
            <a:ext cx="2560320" cy="228600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3108960"/>
            <a:ext cx="2194560" cy="457200"/>
          </a:xfrm>
          <a:prstGeom prst="rect">
            <a:avLst/>
          </a:prstGeom>
          <a:noFill/>
        </p:spPr>
        <p:txBody>
          <a:bodyPr wrap="square">
            <a:spAutoFit/>
          </a:bodyPr>
          <a:lstStyle/>
          <a:p>
            <a:pPr algn="ctr">
              <a:defRPr sz="2200" b="1">
                <a:solidFill>
                  <a:srgbClr val="2ECC71"/>
                </a:solidFill>
                <a:latin typeface="Calibri"/>
              </a:defRPr>
            </a:pPr>
            <a:r>
              <a:t>PLAN</a:t>
            </a:r>
          </a:p>
        </p:txBody>
      </p:sp>
      <p:sp>
        <p:nvSpPr>
          <p:cNvPr id="12" name="TextBox 11"/>
          <p:cNvSpPr txBox="1"/>
          <p:nvPr/>
        </p:nvSpPr>
        <p:spPr>
          <a:xfrm>
            <a:off x="3566160" y="3657600"/>
            <a:ext cx="2194560" cy="365760"/>
          </a:xfrm>
          <a:prstGeom prst="rect">
            <a:avLst/>
          </a:prstGeom>
          <a:noFill/>
        </p:spPr>
        <p:txBody>
          <a:bodyPr wrap="square">
            <a:spAutoFit/>
          </a:bodyPr>
          <a:lstStyle/>
          <a:p>
            <a:pPr algn="ctr">
              <a:defRPr sz="1100" b="0">
                <a:solidFill>
                  <a:srgbClr val="CCCCCC"/>
                </a:solidFill>
                <a:latin typeface="Calibri"/>
              </a:defRPr>
            </a:pPr>
            <a:r>
              <a:t>/gsd:plan-phase N</a:t>
            </a:r>
          </a:p>
        </p:txBody>
      </p:sp>
      <p:sp>
        <p:nvSpPr>
          <p:cNvPr id="13" name="TextBox 12"/>
          <p:cNvSpPr txBox="1"/>
          <p:nvPr/>
        </p:nvSpPr>
        <p:spPr>
          <a:xfrm>
            <a:off x="3566160" y="4114800"/>
            <a:ext cx="2194560" cy="914400"/>
          </a:xfrm>
          <a:prstGeom prst="rect">
            <a:avLst/>
          </a:prstGeom>
          <a:noFill/>
        </p:spPr>
        <p:txBody>
          <a:bodyPr wrap="square">
            <a:spAutoFit/>
          </a:bodyPr>
          <a:lstStyle/>
          <a:p>
            <a:pPr algn="ctr">
              <a:defRPr sz="1300" b="0">
                <a:solidFill>
                  <a:srgbClr val="E8EEF4"/>
                </a:solidFill>
                <a:latin typeface="Calibri"/>
              </a:defRPr>
            </a:pPr>
            <a:r>
              <a:t>Research + atomic</a:t>
            </a:r>
            <a:br/>
            <a:r>
              <a:t>plans + validation</a:t>
            </a:r>
          </a:p>
        </p:txBody>
      </p:sp>
      <p:sp>
        <p:nvSpPr>
          <p:cNvPr id="14" name="TextBox 13"/>
          <p:cNvSpPr txBox="1"/>
          <p:nvPr/>
        </p:nvSpPr>
        <p:spPr>
          <a:xfrm>
            <a:off x="5989320" y="3749040"/>
            <a:ext cx="365760" cy="457200"/>
          </a:xfrm>
          <a:prstGeom prst="rect">
            <a:avLst/>
          </a:prstGeom>
          <a:noFill/>
        </p:spPr>
        <p:txBody>
          <a:bodyPr wrap="square">
            <a:spAutoFit/>
          </a:bodyPr>
          <a:lstStyle/>
          <a:p>
            <a:pPr algn="ctr">
              <a:defRPr sz="2000" b="0">
                <a:solidFill>
                  <a:srgbClr val="999999"/>
                </a:solidFill>
                <a:latin typeface="Calibri"/>
              </a:defRPr>
            </a:pPr>
            <a:r>
              <a:t>▶</a:t>
            </a:r>
          </a:p>
        </p:txBody>
      </p:sp>
      <p:sp>
        <p:nvSpPr>
          <p:cNvPr id="15" name="Rounded Rectangle 14"/>
          <p:cNvSpPr/>
          <p:nvPr/>
        </p:nvSpPr>
        <p:spPr>
          <a:xfrm>
            <a:off x="6309360" y="2926080"/>
            <a:ext cx="2560320" cy="228600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108960"/>
            <a:ext cx="2194560" cy="457200"/>
          </a:xfrm>
          <a:prstGeom prst="rect">
            <a:avLst/>
          </a:prstGeom>
          <a:noFill/>
        </p:spPr>
        <p:txBody>
          <a:bodyPr wrap="square">
            <a:spAutoFit/>
          </a:bodyPr>
          <a:lstStyle/>
          <a:p>
            <a:pPr algn="ctr">
              <a:defRPr sz="2200" b="1">
                <a:solidFill>
                  <a:srgbClr val="FF6B35"/>
                </a:solidFill>
                <a:latin typeface="Calibri"/>
              </a:defRPr>
            </a:pPr>
            <a:r>
              <a:t>EXECUTE</a:t>
            </a:r>
          </a:p>
        </p:txBody>
      </p:sp>
      <p:sp>
        <p:nvSpPr>
          <p:cNvPr id="17" name="TextBox 16"/>
          <p:cNvSpPr txBox="1"/>
          <p:nvPr/>
        </p:nvSpPr>
        <p:spPr>
          <a:xfrm>
            <a:off x="6492240" y="3657600"/>
            <a:ext cx="2194560" cy="365760"/>
          </a:xfrm>
          <a:prstGeom prst="rect">
            <a:avLst/>
          </a:prstGeom>
          <a:noFill/>
        </p:spPr>
        <p:txBody>
          <a:bodyPr wrap="square">
            <a:spAutoFit/>
          </a:bodyPr>
          <a:lstStyle/>
          <a:p>
            <a:pPr algn="ctr">
              <a:defRPr sz="1100" b="0">
                <a:solidFill>
                  <a:srgbClr val="CCCCCC"/>
                </a:solidFill>
                <a:latin typeface="Calibri"/>
              </a:defRPr>
            </a:pPr>
            <a:r>
              <a:t>/gsd:execute-phase N</a:t>
            </a:r>
          </a:p>
        </p:txBody>
      </p:sp>
      <p:sp>
        <p:nvSpPr>
          <p:cNvPr id="18" name="TextBox 17"/>
          <p:cNvSpPr txBox="1"/>
          <p:nvPr/>
        </p:nvSpPr>
        <p:spPr>
          <a:xfrm>
            <a:off x="6492240" y="4114800"/>
            <a:ext cx="2194560" cy="914400"/>
          </a:xfrm>
          <a:prstGeom prst="rect">
            <a:avLst/>
          </a:prstGeom>
          <a:noFill/>
        </p:spPr>
        <p:txBody>
          <a:bodyPr wrap="square">
            <a:spAutoFit/>
          </a:bodyPr>
          <a:lstStyle/>
          <a:p>
            <a:pPr algn="ctr">
              <a:defRPr sz="1300" b="0">
                <a:solidFill>
                  <a:srgbClr val="E8EEF4"/>
                </a:solidFill>
                <a:latin typeface="Calibri"/>
              </a:defRPr>
            </a:pPr>
            <a:r>
              <a:t>Parallel waves</a:t>
            </a:r>
            <a:br/>
            <a:r>
              <a:t>fresh contexts</a:t>
            </a:r>
          </a:p>
        </p:txBody>
      </p:sp>
      <p:sp>
        <p:nvSpPr>
          <p:cNvPr id="19" name="TextBox 18"/>
          <p:cNvSpPr txBox="1"/>
          <p:nvPr/>
        </p:nvSpPr>
        <p:spPr>
          <a:xfrm>
            <a:off x="8915400" y="3749040"/>
            <a:ext cx="365760" cy="457200"/>
          </a:xfrm>
          <a:prstGeom prst="rect">
            <a:avLst/>
          </a:prstGeom>
          <a:noFill/>
        </p:spPr>
        <p:txBody>
          <a:bodyPr wrap="square">
            <a:spAutoFit/>
          </a:bodyPr>
          <a:lstStyle/>
          <a:p>
            <a:pPr algn="ctr">
              <a:defRPr sz="2000" b="0">
                <a:solidFill>
                  <a:srgbClr val="999999"/>
                </a:solidFill>
                <a:latin typeface="Calibri"/>
              </a:defRPr>
            </a:pPr>
            <a:r>
              <a:t>▶</a:t>
            </a:r>
          </a:p>
        </p:txBody>
      </p:sp>
      <p:sp>
        <p:nvSpPr>
          <p:cNvPr id="20" name="Rounded Rectangle 19"/>
          <p:cNvSpPr/>
          <p:nvPr/>
        </p:nvSpPr>
        <p:spPr>
          <a:xfrm>
            <a:off x="9235440" y="2926080"/>
            <a:ext cx="2560320" cy="2286000"/>
          </a:xfrm>
          <a:prstGeom prst="roundRect">
            <a:avLst/>
          </a:prstGeom>
          <a:solidFill>
            <a:srgbClr val="15223E"/>
          </a:solidFill>
          <a:ln w="12700">
            <a:solidFill>
              <a:srgbClr val="AF7A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0" y="3108960"/>
            <a:ext cx="2194560" cy="457200"/>
          </a:xfrm>
          <a:prstGeom prst="rect">
            <a:avLst/>
          </a:prstGeom>
          <a:noFill/>
        </p:spPr>
        <p:txBody>
          <a:bodyPr wrap="square">
            <a:spAutoFit/>
          </a:bodyPr>
          <a:lstStyle/>
          <a:p>
            <a:pPr algn="ctr">
              <a:defRPr sz="2200" b="1">
                <a:solidFill>
                  <a:srgbClr val="AF7AC5"/>
                </a:solidFill>
                <a:latin typeface="Calibri"/>
              </a:defRPr>
            </a:pPr>
            <a:r>
              <a:t>VERIFY</a:t>
            </a:r>
          </a:p>
        </p:txBody>
      </p:sp>
      <p:sp>
        <p:nvSpPr>
          <p:cNvPr id="22" name="TextBox 21"/>
          <p:cNvSpPr txBox="1"/>
          <p:nvPr/>
        </p:nvSpPr>
        <p:spPr>
          <a:xfrm>
            <a:off x="9418320" y="3657600"/>
            <a:ext cx="2194560" cy="365760"/>
          </a:xfrm>
          <a:prstGeom prst="rect">
            <a:avLst/>
          </a:prstGeom>
          <a:noFill/>
        </p:spPr>
        <p:txBody>
          <a:bodyPr wrap="square">
            <a:spAutoFit/>
          </a:bodyPr>
          <a:lstStyle/>
          <a:p>
            <a:pPr algn="ctr">
              <a:defRPr sz="1100" b="0">
                <a:solidFill>
                  <a:srgbClr val="CCCCCC"/>
                </a:solidFill>
                <a:latin typeface="Calibri"/>
              </a:defRPr>
            </a:pPr>
            <a:r>
              <a:t>/gsd:verify-work N</a:t>
            </a:r>
          </a:p>
        </p:txBody>
      </p:sp>
      <p:sp>
        <p:nvSpPr>
          <p:cNvPr id="23" name="TextBox 22"/>
          <p:cNvSpPr txBox="1"/>
          <p:nvPr/>
        </p:nvSpPr>
        <p:spPr>
          <a:xfrm>
            <a:off x="9418320" y="4114800"/>
            <a:ext cx="2194560" cy="914400"/>
          </a:xfrm>
          <a:prstGeom prst="rect">
            <a:avLst/>
          </a:prstGeom>
          <a:noFill/>
        </p:spPr>
        <p:txBody>
          <a:bodyPr wrap="square">
            <a:spAutoFit/>
          </a:bodyPr>
          <a:lstStyle/>
          <a:p>
            <a:pPr algn="ctr">
              <a:defRPr sz="1300" b="0">
                <a:solidFill>
                  <a:srgbClr val="E8EEF4"/>
                </a:solidFill>
                <a:latin typeface="Calibri"/>
              </a:defRPr>
            </a:pPr>
            <a:r>
              <a:t>Acceptance test</a:t>
            </a:r>
            <a:br/>
            <a:r>
              <a:t>gap analysis</a:t>
            </a:r>
          </a:p>
        </p:txBody>
      </p:sp>
      <p:sp>
        <p:nvSpPr>
          <p:cNvPr id="24" name="TextBox 23"/>
          <p:cNvSpPr txBox="1"/>
          <p:nvPr/>
        </p:nvSpPr>
        <p:spPr>
          <a:xfrm>
            <a:off x="731520" y="5669280"/>
            <a:ext cx="10515600" cy="731520"/>
          </a:xfrm>
          <a:prstGeom prst="rect">
            <a:avLst/>
          </a:prstGeom>
          <a:noFill/>
        </p:spPr>
        <p:txBody>
          <a:bodyPr wrap="square">
            <a:spAutoFit/>
          </a:bodyPr>
          <a:lstStyle/>
          <a:p>
            <a:pPr algn="ctr">
              <a:defRPr sz="1500" b="0">
                <a:solidFill>
                  <a:srgbClr val="CCCCCC"/>
                </a:solidFill>
                <a:latin typeface="Calibri"/>
              </a:defRPr>
            </a:pPr>
            <a:r>
              <a:t>Repeat per phase  →  /gsd:complete-milestone  →  /gsd:new-milestone  →  Next cycle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CONTEXT ENGINEERING</a:t>
            </a:r>
          </a:p>
        </p:txBody>
      </p:sp>
      <p:sp>
        <p:nvSpPr>
          <p:cNvPr id="3" name="Rectangle 2"/>
          <p:cNvSpPr/>
          <p:nvPr/>
        </p:nvSpPr>
        <p:spPr>
          <a:xfrm>
            <a:off x="731520" y="1097280"/>
            <a:ext cx="22860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029200" cy="54864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6720"/>
            <a:ext cx="2011680" cy="365760"/>
          </a:xfrm>
          <a:prstGeom prst="rect">
            <a:avLst/>
          </a:prstGeom>
          <a:noFill/>
        </p:spPr>
        <p:txBody>
          <a:bodyPr wrap="square">
            <a:spAutoFit/>
          </a:bodyPr>
          <a:lstStyle/>
          <a:p>
            <a:pPr algn="l">
              <a:defRPr sz="1400" b="1">
                <a:solidFill>
                  <a:srgbClr val="00B4D8"/>
                </a:solidFill>
                <a:latin typeface="Calibri"/>
              </a:defRPr>
            </a:pPr>
            <a:r>
              <a:t>PROJECT.md</a:t>
            </a:r>
          </a:p>
        </p:txBody>
      </p:sp>
      <p:sp>
        <p:nvSpPr>
          <p:cNvPr id="6" name="TextBox 5"/>
          <p:cNvSpPr txBox="1"/>
          <p:nvPr/>
        </p:nvSpPr>
        <p:spPr>
          <a:xfrm>
            <a:off x="2926080" y="1696720"/>
            <a:ext cx="2743200" cy="365760"/>
          </a:xfrm>
          <a:prstGeom prst="rect">
            <a:avLst/>
          </a:prstGeom>
          <a:noFill/>
        </p:spPr>
        <p:txBody>
          <a:bodyPr wrap="square">
            <a:spAutoFit/>
          </a:bodyPr>
          <a:lstStyle/>
          <a:p>
            <a:pPr algn="l">
              <a:defRPr sz="1300" b="0">
                <a:solidFill>
                  <a:srgbClr val="E8EEF4"/>
                </a:solidFill>
                <a:latin typeface="Calibri"/>
              </a:defRPr>
            </a:pPr>
            <a:r>
              <a:t>Project vision — always loaded</a:t>
            </a:r>
          </a:p>
        </p:txBody>
      </p:sp>
      <p:sp>
        <p:nvSpPr>
          <p:cNvPr id="7" name="Rounded Rectangle 6"/>
          <p:cNvSpPr/>
          <p:nvPr/>
        </p:nvSpPr>
        <p:spPr>
          <a:xfrm>
            <a:off x="731520" y="2304288"/>
            <a:ext cx="5029200" cy="54864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55088"/>
            <a:ext cx="2011680" cy="365760"/>
          </a:xfrm>
          <a:prstGeom prst="rect">
            <a:avLst/>
          </a:prstGeom>
          <a:noFill/>
        </p:spPr>
        <p:txBody>
          <a:bodyPr wrap="square">
            <a:spAutoFit/>
          </a:bodyPr>
          <a:lstStyle/>
          <a:p>
            <a:pPr algn="l">
              <a:defRPr sz="1400" b="1">
                <a:solidFill>
                  <a:srgbClr val="00B4D8"/>
                </a:solidFill>
                <a:latin typeface="Calibri"/>
              </a:defRPr>
            </a:pPr>
            <a:r>
              <a:t>REQUIREMENTS.md</a:t>
            </a:r>
          </a:p>
        </p:txBody>
      </p:sp>
      <p:sp>
        <p:nvSpPr>
          <p:cNvPr id="9" name="TextBox 8"/>
          <p:cNvSpPr txBox="1"/>
          <p:nvPr/>
        </p:nvSpPr>
        <p:spPr>
          <a:xfrm>
            <a:off x="2926080" y="2355088"/>
            <a:ext cx="2743200" cy="365760"/>
          </a:xfrm>
          <a:prstGeom prst="rect">
            <a:avLst/>
          </a:prstGeom>
          <a:noFill/>
        </p:spPr>
        <p:txBody>
          <a:bodyPr wrap="square">
            <a:spAutoFit/>
          </a:bodyPr>
          <a:lstStyle/>
          <a:p>
            <a:pPr algn="l">
              <a:defRPr sz="1300" b="0">
                <a:solidFill>
                  <a:srgbClr val="E8EEF4"/>
                </a:solidFill>
                <a:latin typeface="Calibri"/>
              </a:defRPr>
            </a:pPr>
            <a:r>
              <a:t>Scoped v1/v2 requirements</a:t>
            </a:r>
          </a:p>
        </p:txBody>
      </p:sp>
      <p:sp>
        <p:nvSpPr>
          <p:cNvPr id="10" name="Rounded Rectangle 9"/>
          <p:cNvSpPr/>
          <p:nvPr/>
        </p:nvSpPr>
        <p:spPr>
          <a:xfrm>
            <a:off x="731520" y="2962656"/>
            <a:ext cx="5029200" cy="54864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13456"/>
            <a:ext cx="2011680" cy="365760"/>
          </a:xfrm>
          <a:prstGeom prst="rect">
            <a:avLst/>
          </a:prstGeom>
          <a:noFill/>
        </p:spPr>
        <p:txBody>
          <a:bodyPr wrap="square">
            <a:spAutoFit/>
          </a:bodyPr>
          <a:lstStyle/>
          <a:p>
            <a:pPr algn="l">
              <a:defRPr sz="1400" b="1">
                <a:solidFill>
                  <a:srgbClr val="00B4D8"/>
                </a:solidFill>
                <a:latin typeface="Calibri"/>
              </a:defRPr>
            </a:pPr>
            <a:r>
              <a:t>ROADMAP.md</a:t>
            </a:r>
          </a:p>
        </p:txBody>
      </p:sp>
      <p:sp>
        <p:nvSpPr>
          <p:cNvPr id="12" name="TextBox 11"/>
          <p:cNvSpPr txBox="1"/>
          <p:nvPr/>
        </p:nvSpPr>
        <p:spPr>
          <a:xfrm>
            <a:off x="2926080" y="3013456"/>
            <a:ext cx="2743200" cy="365760"/>
          </a:xfrm>
          <a:prstGeom prst="rect">
            <a:avLst/>
          </a:prstGeom>
          <a:noFill/>
        </p:spPr>
        <p:txBody>
          <a:bodyPr wrap="square">
            <a:spAutoFit/>
          </a:bodyPr>
          <a:lstStyle/>
          <a:p>
            <a:pPr algn="l">
              <a:defRPr sz="1300" b="0">
                <a:solidFill>
                  <a:srgbClr val="E8EEF4"/>
                </a:solidFill>
                <a:latin typeface="Calibri"/>
              </a:defRPr>
            </a:pPr>
            <a:r>
              <a:t>Phased execution plan</a:t>
            </a:r>
          </a:p>
        </p:txBody>
      </p:sp>
      <p:sp>
        <p:nvSpPr>
          <p:cNvPr id="13" name="Rounded Rectangle 12"/>
          <p:cNvSpPr/>
          <p:nvPr/>
        </p:nvSpPr>
        <p:spPr>
          <a:xfrm>
            <a:off x="731520" y="3621024"/>
            <a:ext cx="5029200" cy="54864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671824"/>
            <a:ext cx="2011680" cy="365760"/>
          </a:xfrm>
          <a:prstGeom prst="rect">
            <a:avLst/>
          </a:prstGeom>
          <a:noFill/>
        </p:spPr>
        <p:txBody>
          <a:bodyPr wrap="square">
            <a:spAutoFit/>
          </a:bodyPr>
          <a:lstStyle/>
          <a:p>
            <a:pPr algn="l">
              <a:defRPr sz="1400" b="1">
                <a:solidFill>
                  <a:srgbClr val="FF6B35"/>
                </a:solidFill>
                <a:latin typeface="Calibri"/>
              </a:defRPr>
            </a:pPr>
            <a:r>
              <a:t>STATE.md</a:t>
            </a:r>
          </a:p>
        </p:txBody>
      </p:sp>
      <p:sp>
        <p:nvSpPr>
          <p:cNvPr id="15" name="TextBox 14"/>
          <p:cNvSpPr txBox="1"/>
          <p:nvPr/>
        </p:nvSpPr>
        <p:spPr>
          <a:xfrm>
            <a:off x="2926080" y="3671824"/>
            <a:ext cx="2743200" cy="365760"/>
          </a:xfrm>
          <a:prstGeom prst="rect">
            <a:avLst/>
          </a:prstGeom>
          <a:noFill/>
        </p:spPr>
        <p:txBody>
          <a:bodyPr wrap="square">
            <a:spAutoFit/>
          </a:bodyPr>
          <a:lstStyle/>
          <a:p>
            <a:pPr algn="l">
              <a:defRPr sz="1300" b="0">
                <a:solidFill>
                  <a:srgbClr val="E8EEF4"/>
                </a:solidFill>
                <a:latin typeface="Calibri"/>
              </a:defRPr>
            </a:pPr>
            <a:r>
              <a:t>Living memory across sessions</a:t>
            </a:r>
          </a:p>
        </p:txBody>
      </p:sp>
      <p:sp>
        <p:nvSpPr>
          <p:cNvPr id="16" name="Rounded Rectangle 15"/>
          <p:cNvSpPr/>
          <p:nvPr/>
        </p:nvSpPr>
        <p:spPr>
          <a:xfrm>
            <a:off x="731520" y="4279392"/>
            <a:ext cx="5029200" cy="54864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30192"/>
            <a:ext cx="2011680" cy="365760"/>
          </a:xfrm>
          <a:prstGeom prst="rect">
            <a:avLst/>
          </a:prstGeom>
          <a:noFill/>
        </p:spPr>
        <p:txBody>
          <a:bodyPr wrap="square">
            <a:spAutoFit/>
          </a:bodyPr>
          <a:lstStyle/>
          <a:p>
            <a:pPr algn="l">
              <a:defRPr sz="1400" b="1">
                <a:solidFill>
                  <a:srgbClr val="2ECC71"/>
                </a:solidFill>
                <a:latin typeface="Calibri"/>
              </a:defRPr>
            </a:pPr>
            <a:r>
              <a:t>CONTEXT.md</a:t>
            </a:r>
          </a:p>
        </p:txBody>
      </p:sp>
      <p:sp>
        <p:nvSpPr>
          <p:cNvPr id="18" name="TextBox 17"/>
          <p:cNvSpPr txBox="1"/>
          <p:nvPr/>
        </p:nvSpPr>
        <p:spPr>
          <a:xfrm>
            <a:off x="2926080" y="4330192"/>
            <a:ext cx="2743200" cy="365760"/>
          </a:xfrm>
          <a:prstGeom prst="rect">
            <a:avLst/>
          </a:prstGeom>
          <a:noFill/>
        </p:spPr>
        <p:txBody>
          <a:bodyPr wrap="square">
            <a:spAutoFit/>
          </a:bodyPr>
          <a:lstStyle/>
          <a:p>
            <a:pPr algn="l">
              <a:defRPr sz="1300" b="0">
                <a:solidFill>
                  <a:srgbClr val="E8EEF4"/>
                </a:solidFill>
                <a:latin typeface="Calibri"/>
              </a:defRPr>
            </a:pPr>
            <a:r>
              <a:t>User’s implementation decisions</a:t>
            </a:r>
          </a:p>
        </p:txBody>
      </p:sp>
      <p:sp>
        <p:nvSpPr>
          <p:cNvPr id="19" name="Rounded Rectangle 18"/>
          <p:cNvSpPr/>
          <p:nvPr/>
        </p:nvSpPr>
        <p:spPr>
          <a:xfrm>
            <a:off x="731520" y="4937759"/>
            <a:ext cx="5029200" cy="54864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988559"/>
            <a:ext cx="2011680" cy="365760"/>
          </a:xfrm>
          <a:prstGeom prst="rect">
            <a:avLst/>
          </a:prstGeom>
          <a:noFill/>
        </p:spPr>
        <p:txBody>
          <a:bodyPr wrap="square">
            <a:spAutoFit/>
          </a:bodyPr>
          <a:lstStyle/>
          <a:p>
            <a:pPr algn="l">
              <a:defRPr sz="1400" b="1">
                <a:solidFill>
                  <a:srgbClr val="2ECC71"/>
                </a:solidFill>
                <a:latin typeface="Calibri"/>
              </a:defRPr>
            </a:pPr>
            <a:r>
              <a:t>PLAN.md</a:t>
            </a:r>
          </a:p>
        </p:txBody>
      </p:sp>
      <p:sp>
        <p:nvSpPr>
          <p:cNvPr id="21" name="TextBox 20"/>
          <p:cNvSpPr txBox="1"/>
          <p:nvPr/>
        </p:nvSpPr>
        <p:spPr>
          <a:xfrm>
            <a:off x="2926080" y="4988559"/>
            <a:ext cx="2743200" cy="365760"/>
          </a:xfrm>
          <a:prstGeom prst="rect">
            <a:avLst/>
          </a:prstGeom>
          <a:noFill/>
        </p:spPr>
        <p:txBody>
          <a:bodyPr wrap="square">
            <a:spAutoFit/>
          </a:bodyPr>
          <a:lstStyle/>
          <a:p>
            <a:pPr algn="l">
              <a:defRPr sz="1300" b="0">
                <a:solidFill>
                  <a:srgbClr val="E8EEF4"/>
                </a:solidFill>
                <a:latin typeface="Calibri"/>
              </a:defRPr>
            </a:pPr>
            <a:r>
              <a:t>XML-structured executable prompts</a:t>
            </a:r>
          </a:p>
        </p:txBody>
      </p:sp>
      <p:sp>
        <p:nvSpPr>
          <p:cNvPr id="22" name="Rounded Rectangle 21"/>
          <p:cNvSpPr/>
          <p:nvPr/>
        </p:nvSpPr>
        <p:spPr>
          <a:xfrm>
            <a:off x="731520" y="5596128"/>
            <a:ext cx="5029200" cy="548640"/>
          </a:xfrm>
          <a:prstGeom prst="roundRect">
            <a:avLst/>
          </a:prstGeom>
          <a:solidFill>
            <a:srgbClr val="15223E"/>
          </a:solidFill>
          <a:ln w="12700">
            <a:solidFill>
              <a:srgbClr val="AF7A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646928"/>
            <a:ext cx="2011680" cy="365760"/>
          </a:xfrm>
          <a:prstGeom prst="rect">
            <a:avLst/>
          </a:prstGeom>
          <a:noFill/>
        </p:spPr>
        <p:txBody>
          <a:bodyPr wrap="square">
            <a:spAutoFit/>
          </a:bodyPr>
          <a:lstStyle/>
          <a:p>
            <a:pPr algn="l">
              <a:defRPr sz="1400" b="1">
                <a:solidFill>
                  <a:srgbClr val="AF7AC5"/>
                </a:solidFill>
                <a:latin typeface="Calibri"/>
              </a:defRPr>
            </a:pPr>
            <a:r>
              <a:t>VERIFICATION.md</a:t>
            </a:r>
          </a:p>
        </p:txBody>
      </p:sp>
      <p:sp>
        <p:nvSpPr>
          <p:cNvPr id="24" name="TextBox 23"/>
          <p:cNvSpPr txBox="1"/>
          <p:nvPr/>
        </p:nvSpPr>
        <p:spPr>
          <a:xfrm>
            <a:off x="2926080" y="5646928"/>
            <a:ext cx="2743200" cy="365760"/>
          </a:xfrm>
          <a:prstGeom prst="rect">
            <a:avLst/>
          </a:prstGeom>
          <a:noFill/>
        </p:spPr>
        <p:txBody>
          <a:bodyPr wrap="square">
            <a:spAutoFit/>
          </a:bodyPr>
          <a:lstStyle/>
          <a:p>
            <a:pPr algn="l">
              <a:defRPr sz="1300" b="0">
                <a:solidFill>
                  <a:srgbClr val="E8EEF4"/>
                </a:solidFill>
                <a:latin typeface="Calibri"/>
              </a:defRPr>
            </a:pPr>
            <a:r>
              <a:t>Goal achievement report</a:t>
            </a:r>
          </a:p>
        </p:txBody>
      </p:sp>
      <p:sp>
        <p:nvSpPr>
          <p:cNvPr id="25" name="Rounded Rectangle 24"/>
          <p:cNvSpPr/>
          <p:nvPr/>
        </p:nvSpPr>
        <p:spPr>
          <a:xfrm>
            <a:off x="6400800" y="1645920"/>
            <a:ext cx="5029200" cy="457200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0" y="1828800"/>
            <a:ext cx="4297680" cy="457200"/>
          </a:xfrm>
          <a:prstGeom prst="rect">
            <a:avLst/>
          </a:prstGeom>
          <a:noFill/>
        </p:spPr>
        <p:txBody>
          <a:bodyPr wrap="square">
            <a:spAutoFit/>
          </a:bodyPr>
          <a:lstStyle/>
          <a:p>
            <a:pPr algn="l">
              <a:defRPr sz="1800" b="1">
                <a:solidFill>
                  <a:srgbClr val="00B4D8"/>
                </a:solidFill>
                <a:latin typeface="Calibri"/>
              </a:defRPr>
            </a:pPr>
            <a:r>
              <a:t>KEY INSIGHT</a:t>
            </a:r>
          </a:p>
        </p:txBody>
      </p:sp>
      <p:sp>
        <p:nvSpPr>
          <p:cNvPr id="27" name="TextBox 26"/>
          <p:cNvSpPr txBox="1"/>
          <p:nvPr/>
        </p:nvSpPr>
        <p:spPr>
          <a:xfrm>
            <a:off x="6766560" y="2468880"/>
            <a:ext cx="4297680" cy="3474720"/>
          </a:xfrm>
          <a:prstGeom prst="rect">
            <a:avLst/>
          </a:prstGeom>
          <a:noFill/>
        </p:spPr>
        <p:txBody>
          <a:bodyPr wrap="square">
            <a:spAutoFit/>
          </a:bodyPr>
          <a:lstStyle/>
          <a:p>
            <a:pPr>
              <a:spcAft>
                <a:spcPts val="1400"/>
              </a:spcAft>
              <a:defRPr sz="1400">
                <a:solidFill>
                  <a:srgbClr val="E8EEF4"/>
                </a:solidFill>
                <a:latin typeface="Calibri"/>
              </a:defRPr>
            </a:pPr>
            <a:r>
              <a:t>Every artifact has size constraints mapped to Claude's quality curve</a:t>
            </a:r>
          </a:p>
          <a:p>
            <a:pPr>
              <a:spcAft>
                <a:spcPts val="1400"/>
              </a:spcAft>
              <a:defRPr sz="1400">
                <a:solidFill>
                  <a:srgbClr val="E8EEF4"/>
                </a:solidFill>
                <a:latin typeface="Calibri"/>
              </a:defRPr>
            </a:pPr>
            <a:r>
              <a:t>STATE.md is read FIRST in every workflow, updated after every action</a:t>
            </a:r>
          </a:p>
          <a:p>
            <a:pPr>
              <a:spcAft>
                <a:spcPts val="1400"/>
              </a:spcAft>
              <a:defRPr sz="1400">
                <a:solidFill>
                  <a:srgbClr val="E8EEF4"/>
                </a:solidFill>
                <a:latin typeface="Calibri"/>
              </a:defRPr>
            </a:pPr>
            <a:r>
              <a:t>Plans stay at 2-3 tasks — small enough for the peak quality zone</a:t>
            </a:r>
          </a:p>
          <a:p>
            <a:pPr>
              <a:spcAft>
                <a:spcPts val="1400"/>
              </a:spcAft>
              <a:defRPr sz="1400">
                <a:solidFill>
                  <a:srgbClr val="E8EEF4"/>
                </a:solidFill>
                <a:latin typeface="Calibri"/>
              </a:defRPr>
            </a:pPr>
            <a:r>
              <a:t>Each executor gets a fresh 200k-token context with zero accumulated garbage</a:t>
            </a:r>
          </a:p>
          <a:p>
            <a:pPr>
              <a:spcAft>
                <a:spcPts val="1400"/>
              </a:spcAft>
              <a:defRPr sz="1400">
                <a:solidFill>
                  <a:srgbClr val="E8EEF4"/>
                </a:solidFill>
                <a:latin typeface="Calibri"/>
              </a:defRPr>
            </a:pPr>
            <a:r>
              <a:t>Result: consistent quality throughout the entire project lifecycle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MULTI-AGENT ARCHITECTURE</a:t>
            </a:r>
          </a:p>
        </p:txBody>
      </p:sp>
      <p:sp>
        <p:nvSpPr>
          <p:cNvPr id="3" name="Rectangle 2"/>
          <p:cNvSpPr/>
          <p:nvPr/>
        </p:nvSpPr>
        <p:spPr>
          <a:xfrm>
            <a:off x="731520" y="1097280"/>
            <a:ext cx="27432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0" y="2743200"/>
            <a:ext cx="2103120" cy="1371600"/>
          </a:xfrm>
          <a:prstGeom prst="ellipse">
            <a:avLst/>
          </a:prstGeom>
          <a:solidFill>
            <a:srgbClr val="1B2A4A"/>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B4D8"/>
                </a:solidFill>
              </a:defRPr>
            </a:pPr>
            <a:r>
              <a:t>THIN</a:t>
            </a:r>
            <a:br/>
            <a:r>
              <a:t>ORCHESTRATOR</a:t>
            </a:r>
          </a:p>
        </p:txBody>
      </p:sp>
      <p:sp>
        <p:nvSpPr>
          <p:cNvPr id="5" name="Rounded Rectangle 4"/>
          <p:cNvSpPr/>
          <p:nvPr/>
        </p:nvSpPr>
        <p:spPr>
          <a:xfrm>
            <a:off x="457200" y="1554480"/>
            <a:ext cx="3840480" cy="210312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3474720" cy="365760"/>
          </a:xfrm>
          <a:prstGeom prst="rect">
            <a:avLst/>
          </a:prstGeom>
          <a:noFill/>
        </p:spPr>
        <p:txBody>
          <a:bodyPr wrap="square">
            <a:spAutoFit/>
          </a:bodyPr>
          <a:lstStyle/>
          <a:p>
            <a:pPr algn="l">
              <a:defRPr sz="1600" b="1">
                <a:solidFill>
                  <a:srgbClr val="00B4D8"/>
                </a:solidFill>
                <a:latin typeface="Calibri"/>
              </a:defRPr>
            </a:pPr>
            <a:r>
              <a:t>RESEARCH</a:t>
            </a:r>
          </a:p>
        </p:txBody>
      </p:sp>
      <p:sp>
        <p:nvSpPr>
          <p:cNvPr id="7" name="TextBox 6"/>
          <p:cNvSpPr txBox="1"/>
          <p:nvPr/>
        </p:nvSpPr>
        <p:spPr>
          <a:xfrm>
            <a:off x="640080" y="2103120"/>
            <a:ext cx="3474720" cy="1371600"/>
          </a:xfrm>
          <a:prstGeom prst="rect">
            <a:avLst/>
          </a:prstGeom>
          <a:noFill/>
        </p:spPr>
        <p:txBody>
          <a:bodyPr wrap="square">
            <a:spAutoFit/>
          </a:bodyPr>
          <a:lstStyle/>
          <a:p>
            <a:pPr>
              <a:spcAft>
                <a:spcPts val="400"/>
              </a:spcAft>
              <a:defRPr sz="1200">
                <a:solidFill>
                  <a:srgbClr val="E8EEF4"/>
                </a:solidFill>
                <a:latin typeface="Calibri"/>
              </a:defRPr>
            </a:pPr>
            <a:r>
              <a:t>Project Researcher</a:t>
            </a:r>
          </a:p>
          <a:p>
            <a:pPr>
              <a:spcAft>
                <a:spcPts val="400"/>
              </a:spcAft>
              <a:defRPr sz="1200">
                <a:solidFill>
                  <a:srgbClr val="E8EEF4"/>
                </a:solidFill>
                <a:latin typeface="Calibri"/>
              </a:defRPr>
            </a:pPr>
            <a:r>
              <a:t>Phase Researcher</a:t>
            </a:r>
          </a:p>
          <a:p>
            <a:pPr>
              <a:spcAft>
                <a:spcPts val="400"/>
              </a:spcAft>
              <a:defRPr sz="1200">
                <a:solidFill>
                  <a:srgbClr val="E8EEF4"/>
                </a:solidFill>
                <a:latin typeface="Calibri"/>
              </a:defRPr>
            </a:pPr>
            <a:r>
              <a:t>Synthesizer</a:t>
            </a:r>
          </a:p>
          <a:p>
            <a:pPr>
              <a:spcAft>
                <a:spcPts val="400"/>
              </a:spcAft>
              <a:defRPr sz="1200">
                <a:solidFill>
                  <a:srgbClr val="E8EEF4"/>
                </a:solidFill>
                <a:latin typeface="Calibri"/>
              </a:defRPr>
            </a:pPr>
            <a:r>
              <a:t>Codebase Mapper</a:t>
            </a:r>
          </a:p>
        </p:txBody>
      </p:sp>
      <p:sp>
        <p:nvSpPr>
          <p:cNvPr id="8" name="Rounded Rectangle 7"/>
          <p:cNvSpPr/>
          <p:nvPr/>
        </p:nvSpPr>
        <p:spPr>
          <a:xfrm>
            <a:off x="7772400" y="1554480"/>
            <a:ext cx="3840480" cy="210312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0" y="1691640"/>
            <a:ext cx="3474720" cy="365760"/>
          </a:xfrm>
          <a:prstGeom prst="rect">
            <a:avLst/>
          </a:prstGeom>
          <a:noFill/>
        </p:spPr>
        <p:txBody>
          <a:bodyPr wrap="square">
            <a:spAutoFit/>
          </a:bodyPr>
          <a:lstStyle/>
          <a:p>
            <a:pPr algn="l">
              <a:defRPr sz="1600" b="1">
                <a:solidFill>
                  <a:srgbClr val="2ECC71"/>
                </a:solidFill>
                <a:latin typeface="Calibri"/>
              </a:defRPr>
            </a:pPr>
            <a:r>
              <a:t>PLANNING</a:t>
            </a:r>
          </a:p>
        </p:txBody>
      </p:sp>
      <p:sp>
        <p:nvSpPr>
          <p:cNvPr id="10" name="TextBox 9"/>
          <p:cNvSpPr txBox="1"/>
          <p:nvPr/>
        </p:nvSpPr>
        <p:spPr>
          <a:xfrm>
            <a:off x="7955280" y="2103120"/>
            <a:ext cx="3474720" cy="1371600"/>
          </a:xfrm>
          <a:prstGeom prst="rect">
            <a:avLst/>
          </a:prstGeom>
          <a:noFill/>
        </p:spPr>
        <p:txBody>
          <a:bodyPr wrap="square">
            <a:spAutoFit/>
          </a:bodyPr>
          <a:lstStyle/>
          <a:p>
            <a:pPr>
              <a:spcAft>
                <a:spcPts val="400"/>
              </a:spcAft>
              <a:defRPr sz="1200">
                <a:solidFill>
                  <a:srgbClr val="E8EEF4"/>
                </a:solidFill>
                <a:latin typeface="Calibri"/>
              </a:defRPr>
            </a:pPr>
            <a:r>
              <a:t>Planner</a:t>
            </a:r>
          </a:p>
          <a:p>
            <a:pPr>
              <a:spcAft>
                <a:spcPts val="400"/>
              </a:spcAft>
              <a:defRPr sz="1200">
                <a:solidFill>
                  <a:srgbClr val="E8EEF4"/>
                </a:solidFill>
                <a:latin typeface="Calibri"/>
              </a:defRPr>
            </a:pPr>
            <a:r>
              <a:t>Plan Checker</a:t>
            </a:r>
          </a:p>
          <a:p>
            <a:pPr>
              <a:spcAft>
                <a:spcPts val="400"/>
              </a:spcAft>
              <a:defRPr sz="1200">
                <a:solidFill>
                  <a:srgbClr val="E8EEF4"/>
                </a:solidFill>
                <a:latin typeface="Calibri"/>
              </a:defRPr>
            </a:pPr>
            <a:r>
              <a:t>Roadmapper</a:t>
            </a:r>
          </a:p>
        </p:txBody>
      </p:sp>
      <p:sp>
        <p:nvSpPr>
          <p:cNvPr id="11" name="Rounded Rectangle 10"/>
          <p:cNvSpPr/>
          <p:nvPr/>
        </p:nvSpPr>
        <p:spPr>
          <a:xfrm>
            <a:off x="457200" y="4389120"/>
            <a:ext cx="3840480" cy="210312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526280"/>
            <a:ext cx="3474720" cy="365760"/>
          </a:xfrm>
          <a:prstGeom prst="rect">
            <a:avLst/>
          </a:prstGeom>
          <a:noFill/>
        </p:spPr>
        <p:txBody>
          <a:bodyPr wrap="square">
            <a:spAutoFit/>
          </a:bodyPr>
          <a:lstStyle/>
          <a:p>
            <a:pPr algn="l">
              <a:defRPr sz="1600" b="1">
                <a:solidFill>
                  <a:srgbClr val="FF6B35"/>
                </a:solidFill>
                <a:latin typeface="Calibri"/>
              </a:defRPr>
            </a:pPr>
            <a:r>
              <a:t>EXECUTION</a:t>
            </a:r>
          </a:p>
        </p:txBody>
      </p:sp>
      <p:sp>
        <p:nvSpPr>
          <p:cNvPr id="13" name="TextBox 12"/>
          <p:cNvSpPr txBox="1"/>
          <p:nvPr/>
        </p:nvSpPr>
        <p:spPr>
          <a:xfrm>
            <a:off x="640080" y="4937760"/>
            <a:ext cx="3474720" cy="1371600"/>
          </a:xfrm>
          <a:prstGeom prst="rect">
            <a:avLst/>
          </a:prstGeom>
          <a:noFill/>
        </p:spPr>
        <p:txBody>
          <a:bodyPr wrap="square">
            <a:spAutoFit/>
          </a:bodyPr>
          <a:lstStyle/>
          <a:p>
            <a:pPr>
              <a:spcAft>
                <a:spcPts val="400"/>
              </a:spcAft>
              <a:defRPr sz="1200">
                <a:solidFill>
                  <a:srgbClr val="E8EEF4"/>
                </a:solidFill>
                <a:latin typeface="Calibri"/>
              </a:defRPr>
            </a:pPr>
            <a:r>
              <a:t>Executor (parallel)</a:t>
            </a:r>
          </a:p>
          <a:p>
            <a:pPr>
              <a:spcAft>
                <a:spcPts val="400"/>
              </a:spcAft>
              <a:defRPr sz="1200">
                <a:solidFill>
                  <a:srgbClr val="E8EEF4"/>
                </a:solidFill>
                <a:latin typeface="Calibri"/>
              </a:defRPr>
            </a:pPr>
            <a:r>
              <a:t>Fresh 200k context</a:t>
            </a:r>
          </a:p>
          <a:p>
            <a:pPr>
              <a:spcAft>
                <a:spcPts val="400"/>
              </a:spcAft>
              <a:defRPr sz="1200">
                <a:solidFill>
                  <a:srgbClr val="E8EEF4"/>
                </a:solidFill>
                <a:latin typeface="Calibri"/>
              </a:defRPr>
            </a:pPr>
            <a:r>
              <a:t>Per-task commits</a:t>
            </a:r>
          </a:p>
        </p:txBody>
      </p:sp>
      <p:sp>
        <p:nvSpPr>
          <p:cNvPr id="14" name="Rounded Rectangle 13"/>
          <p:cNvSpPr/>
          <p:nvPr/>
        </p:nvSpPr>
        <p:spPr>
          <a:xfrm>
            <a:off x="7772400" y="4389120"/>
            <a:ext cx="3840480" cy="2103120"/>
          </a:xfrm>
          <a:prstGeom prst="roundRect">
            <a:avLst/>
          </a:prstGeom>
          <a:solidFill>
            <a:srgbClr val="15223E"/>
          </a:solidFill>
          <a:ln w="12700">
            <a:solidFill>
              <a:srgbClr val="AF7A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0" y="4526280"/>
            <a:ext cx="3474720" cy="365760"/>
          </a:xfrm>
          <a:prstGeom prst="rect">
            <a:avLst/>
          </a:prstGeom>
          <a:noFill/>
        </p:spPr>
        <p:txBody>
          <a:bodyPr wrap="square">
            <a:spAutoFit/>
          </a:bodyPr>
          <a:lstStyle/>
          <a:p>
            <a:pPr algn="l">
              <a:defRPr sz="1600" b="1">
                <a:solidFill>
                  <a:srgbClr val="AF7AC5"/>
                </a:solidFill>
                <a:latin typeface="Calibri"/>
              </a:defRPr>
            </a:pPr>
            <a:r>
              <a:t>VERIFICATION</a:t>
            </a:r>
          </a:p>
        </p:txBody>
      </p:sp>
      <p:sp>
        <p:nvSpPr>
          <p:cNvPr id="16" name="TextBox 15"/>
          <p:cNvSpPr txBox="1"/>
          <p:nvPr/>
        </p:nvSpPr>
        <p:spPr>
          <a:xfrm>
            <a:off x="7955280" y="4937760"/>
            <a:ext cx="3474720" cy="1371600"/>
          </a:xfrm>
          <a:prstGeom prst="rect">
            <a:avLst/>
          </a:prstGeom>
          <a:noFill/>
        </p:spPr>
        <p:txBody>
          <a:bodyPr wrap="square">
            <a:spAutoFit/>
          </a:bodyPr>
          <a:lstStyle/>
          <a:p>
            <a:pPr>
              <a:spcAft>
                <a:spcPts val="400"/>
              </a:spcAft>
              <a:defRPr sz="1200">
                <a:solidFill>
                  <a:srgbClr val="E8EEF4"/>
                </a:solidFill>
                <a:latin typeface="Calibri"/>
              </a:defRPr>
            </a:pPr>
            <a:r>
              <a:t>Verifier</a:t>
            </a:r>
          </a:p>
          <a:p>
            <a:pPr>
              <a:spcAft>
                <a:spcPts val="400"/>
              </a:spcAft>
              <a:defRPr sz="1200">
                <a:solidFill>
                  <a:srgbClr val="E8EEF4"/>
                </a:solidFill>
                <a:latin typeface="Calibri"/>
              </a:defRPr>
            </a:pPr>
            <a:r>
              <a:t>Integration Checker</a:t>
            </a:r>
          </a:p>
          <a:p>
            <a:pPr>
              <a:spcAft>
                <a:spcPts val="400"/>
              </a:spcAft>
              <a:defRPr sz="1200">
                <a:solidFill>
                  <a:srgbClr val="E8EEF4"/>
                </a:solidFill>
                <a:latin typeface="Calibri"/>
              </a:defRPr>
            </a:pPr>
            <a:r>
              <a:t>Debugger</a:t>
            </a:r>
          </a:p>
        </p:txBody>
      </p:sp>
      <p:sp>
        <p:nvSpPr>
          <p:cNvPr id="17" name="TextBox 16"/>
          <p:cNvSpPr txBox="1"/>
          <p:nvPr/>
        </p:nvSpPr>
        <p:spPr>
          <a:xfrm>
            <a:off x="731520" y="6400800"/>
            <a:ext cx="10515600" cy="365760"/>
          </a:xfrm>
          <a:prstGeom prst="rect">
            <a:avLst/>
          </a:prstGeom>
          <a:noFill/>
        </p:spPr>
        <p:txBody>
          <a:bodyPr wrap="square">
            <a:spAutoFit/>
          </a:bodyPr>
          <a:lstStyle/>
          <a:p>
            <a:pPr algn="ctr">
              <a:defRPr sz="1300" b="0">
                <a:solidFill>
                  <a:srgbClr val="999999"/>
                </a:solidFill>
                <a:latin typeface="Calibri"/>
              </a:defRPr>
            </a:pPr>
            <a:r>
              <a:t>Main context stays at 30-40% usage — heavy lifting happens in subagent contexts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PLANS AS EXECUTABLE PROMPTS</a:t>
            </a:r>
          </a:p>
        </p:txBody>
      </p:sp>
      <p:sp>
        <p:nvSpPr>
          <p:cNvPr id="3" name="Rectangle 2"/>
          <p:cNvSpPr/>
          <p:nvPr/>
        </p:nvSpPr>
        <p:spPr>
          <a:xfrm>
            <a:off x="731520" y="1097280"/>
            <a:ext cx="27432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943600" cy="4389120"/>
          </a:xfrm>
          <a:prstGeom prst="roundRect">
            <a:avLst/>
          </a:prstGeom>
          <a:solidFill>
            <a:srgbClr val="0A1228"/>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5486400" cy="3840480"/>
          </a:xfrm>
          <a:prstGeom prst="rect">
            <a:avLst/>
          </a:prstGeom>
          <a:noFill/>
        </p:spPr>
        <p:txBody>
          <a:bodyPr wrap="square">
            <a:spAutoFit/>
          </a:bodyPr>
          <a:lstStyle/>
          <a:p>
            <a:pPr algn="l">
              <a:defRPr sz="1300" b="0">
                <a:solidFill>
                  <a:srgbClr val="E8EEF4"/>
                </a:solidFill>
                <a:latin typeface="Consolas"/>
              </a:defRPr>
            </a:pPr>
            <a:r>
              <a:t>&lt;task type="auto"&gt;</a:t>
            </a:r>
            <a:br/>
            <a:r>
              <a:t>  &lt;name&gt;Create login endpoint&lt;/name&gt;</a:t>
            </a:r>
            <a:br/>
            <a:r>
              <a:t>  &lt;files&gt;src/api/auth/login.ts&lt;/files&gt;</a:t>
            </a:r>
            <a:br/>
            <a:r>
              <a:t>  &lt;action&gt;</a:t>
            </a:r>
            <a:br/>
            <a:r>
              <a:t>    POST endpoint: {email, password}.</a:t>
            </a:r>
            <a:br/>
            <a:r>
              <a:t>    Query User by email, compare with</a:t>
            </a:r>
            <a:br/>
            <a:r>
              <a:t>    bcrypt. JWT via jose library.</a:t>
            </a:r>
            <a:br/>
            <a:r>
              <a:t>    Set httpOnly cookie on success.</a:t>
            </a:r>
            <a:br/>
            <a:r>
              <a:t>  &lt;/action&gt;</a:t>
            </a:r>
            <a:br/>
            <a:r>
              <a:t>  &lt;verify&gt;</a:t>
            </a:r>
            <a:br/>
            <a:r>
              <a:t>    curl -X POST localhost:3000/api/auth</a:t>
            </a:r>
            <a:br/>
            <a:r>
              <a:t>    returns 200 + Set-Cookie header</a:t>
            </a:r>
            <a:br/>
            <a:r>
              <a:t>  &lt;/verify&gt;</a:t>
            </a:r>
            <a:br/>
            <a:r>
              <a:t>  &lt;done&gt;Valid creds -&gt; cookie, invalid -&gt; 401&lt;/done&gt;</a:t>
            </a:r>
            <a:br/>
            <a:r>
              <a:t>&lt;/task&gt;</a:t>
            </a:r>
          </a:p>
        </p:txBody>
      </p:sp>
      <p:sp>
        <p:nvSpPr>
          <p:cNvPr id="6" name="TextBox 5"/>
          <p:cNvSpPr txBox="1"/>
          <p:nvPr/>
        </p:nvSpPr>
        <p:spPr>
          <a:xfrm>
            <a:off x="7315200" y="1645920"/>
            <a:ext cx="1828800" cy="274320"/>
          </a:xfrm>
          <a:prstGeom prst="rect">
            <a:avLst/>
          </a:prstGeom>
          <a:noFill/>
        </p:spPr>
        <p:txBody>
          <a:bodyPr wrap="square">
            <a:spAutoFit/>
          </a:bodyPr>
          <a:lstStyle/>
          <a:p>
            <a:pPr algn="l">
              <a:defRPr sz="1400" b="1">
                <a:solidFill>
                  <a:srgbClr val="00B4D8"/>
                </a:solidFill>
                <a:latin typeface="Calibri"/>
              </a:defRPr>
            </a:pPr>
            <a:r>
              <a:t>TASK TYPE</a:t>
            </a:r>
          </a:p>
        </p:txBody>
      </p:sp>
      <p:sp>
        <p:nvSpPr>
          <p:cNvPr id="7" name="TextBox 6"/>
          <p:cNvSpPr txBox="1"/>
          <p:nvPr/>
        </p:nvSpPr>
        <p:spPr>
          <a:xfrm>
            <a:off x="7315200" y="1920240"/>
            <a:ext cx="4114800" cy="548640"/>
          </a:xfrm>
          <a:prstGeom prst="rect">
            <a:avLst/>
          </a:prstGeom>
          <a:noFill/>
        </p:spPr>
        <p:txBody>
          <a:bodyPr wrap="square">
            <a:spAutoFit/>
          </a:bodyPr>
          <a:lstStyle/>
          <a:p>
            <a:pPr algn="l">
              <a:defRPr sz="1200" b="0">
                <a:solidFill>
                  <a:srgbClr val="E8EEF4"/>
                </a:solidFill>
                <a:latin typeface="Calibri"/>
              </a:defRPr>
            </a:pPr>
            <a:r>
              <a:t>auto | checkpoint:human-verify</a:t>
            </a:r>
            <a:br/>
            <a:r>
              <a:t>checkpoint:decision</a:t>
            </a:r>
          </a:p>
        </p:txBody>
      </p:sp>
      <p:sp>
        <p:nvSpPr>
          <p:cNvPr id="8" name="TextBox 7"/>
          <p:cNvSpPr txBox="1"/>
          <p:nvPr/>
        </p:nvSpPr>
        <p:spPr>
          <a:xfrm>
            <a:off x="7315200" y="2560320"/>
            <a:ext cx="1828800" cy="274320"/>
          </a:xfrm>
          <a:prstGeom prst="rect">
            <a:avLst/>
          </a:prstGeom>
          <a:noFill/>
        </p:spPr>
        <p:txBody>
          <a:bodyPr wrap="square">
            <a:spAutoFit/>
          </a:bodyPr>
          <a:lstStyle/>
          <a:p>
            <a:pPr algn="l">
              <a:defRPr sz="1400" b="1">
                <a:solidFill>
                  <a:srgbClr val="2ECC71"/>
                </a:solidFill>
                <a:latin typeface="Calibri"/>
              </a:defRPr>
            </a:pPr>
            <a:r>
              <a:t>FILES</a:t>
            </a:r>
          </a:p>
        </p:txBody>
      </p:sp>
      <p:sp>
        <p:nvSpPr>
          <p:cNvPr id="9" name="TextBox 8"/>
          <p:cNvSpPr txBox="1"/>
          <p:nvPr/>
        </p:nvSpPr>
        <p:spPr>
          <a:xfrm>
            <a:off x="7315200" y="2834640"/>
            <a:ext cx="4114800" cy="548640"/>
          </a:xfrm>
          <a:prstGeom prst="rect">
            <a:avLst/>
          </a:prstGeom>
          <a:noFill/>
        </p:spPr>
        <p:txBody>
          <a:bodyPr wrap="square">
            <a:spAutoFit/>
          </a:bodyPr>
          <a:lstStyle/>
          <a:p>
            <a:pPr algn="l">
              <a:defRPr sz="1200" b="0">
                <a:solidFill>
                  <a:srgbClr val="E8EEF4"/>
                </a:solidFill>
                <a:latin typeface="Calibri"/>
              </a:defRPr>
            </a:pPr>
            <a:r>
              <a:t>Exact targets —</a:t>
            </a:r>
            <a:br/>
            <a:r>
              <a:t>no ambiguity</a:t>
            </a:r>
          </a:p>
        </p:txBody>
      </p:sp>
      <p:sp>
        <p:nvSpPr>
          <p:cNvPr id="10" name="TextBox 9"/>
          <p:cNvSpPr txBox="1"/>
          <p:nvPr/>
        </p:nvSpPr>
        <p:spPr>
          <a:xfrm>
            <a:off x="7315200" y="3474720"/>
            <a:ext cx="1828800" cy="274320"/>
          </a:xfrm>
          <a:prstGeom prst="rect">
            <a:avLst/>
          </a:prstGeom>
          <a:noFill/>
        </p:spPr>
        <p:txBody>
          <a:bodyPr wrap="square">
            <a:spAutoFit/>
          </a:bodyPr>
          <a:lstStyle/>
          <a:p>
            <a:pPr algn="l">
              <a:defRPr sz="1400" b="1">
                <a:solidFill>
                  <a:srgbClr val="FF6B35"/>
                </a:solidFill>
                <a:latin typeface="Calibri"/>
              </a:defRPr>
            </a:pPr>
            <a:r>
              <a:t>ACTION</a:t>
            </a:r>
          </a:p>
        </p:txBody>
      </p:sp>
      <p:sp>
        <p:nvSpPr>
          <p:cNvPr id="11" name="TextBox 10"/>
          <p:cNvSpPr txBox="1"/>
          <p:nvPr/>
        </p:nvSpPr>
        <p:spPr>
          <a:xfrm>
            <a:off x="7315200" y="3749040"/>
            <a:ext cx="4114800" cy="548640"/>
          </a:xfrm>
          <a:prstGeom prst="rect">
            <a:avLst/>
          </a:prstGeom>
          <a:noFill/>
        </p:spPr>
        <p:txBody>
          <a:bodyPr wrap="square">
            <a:spAutoFit/>
          </a:bodyPr>
          <a:lstStyle/>
          <a:p>
            <a:pPr algn="l">
              <a:defRPr sz="1200" b="0">
                <a:solidFill>
                  <a:srgbClr val="E8EEF4"/>
                </a:solidFill>
                <a:latin typeface="Calibri"/>
              </a:defRPr>
            </a:pPr>
            <a:r>
              <a:t>Precise instructions with</a:t>
            </a:r>
            <a:br/>
            <a:r>
              <a:t>libraries and approach</a:t>
            </a:r>
          </a:p>
        </p:txBody>
      </p:sp>
      <p:sp>
        <p:nvSpPr>
          <p:cNvPr id="12" name="TextBox 11"/>
          <p:cNvSpPr txBox="1"/>
          <p:nvPr/>
        </p:nvSpPr>
        <p:spPr>
          <a:xfrm>
            <a:off x="7315200" y="4389120"/>
            <a:ext cx="1828800" cy="274320"/>
          </a:xfrm>
          <a:prstGeom prst="rect">
            <a:avLst/>
          </a:prstGeom>
          <a:noFill/>
        </p:spPr>
        <p:txBody>
          <a:bodyPr wrap="square">
            <a:spAutoFit/>
          </a:bodyPr>
          <a:lstStyle/>
          <a:p>
            <a:pPr algn="l">
              <a:defRPr sz="1400" b="1">
                <a:solidFill>
                  <a:srgbClr val="AF7AC5"/>
                </a:solidFill>
                <a:latin typeface="Calibri"/>
              </a:defRPr>
            </a:pPr>
            <a:r>
              <a:t>VERIFY</a:t>
            </a:r>
          </a:p>
        </p:txBody>
      </p:sp>
      <p:sp>
        <p:nvSpPr>
          <p:cNvPr id="13" name="TextBox 12"/>
          <p:cNvSpPr txBox="1"/>
          <p:nvPr/>
        </p:nvSpPr>
        <p:spPr>
          <a:xfrm>
            <a:off x="7315200" y="4663440"/>
            <a:ext cx="4114800" cy="548640"/>
          </a:xfrm>
          <a:prstGeom prst="rect">
            <a:avLst/>
          </a:prstGeom>
          <a:noFill/>
        </p:spPr>
        <p:txBody>
          <a:bodyPr wrap="square">
            <a:spAutoFit/>
          </a:bodyPr>
          <a:lstStyle/>
          <a:p>
            <a:pPr algn="l">
              <a:defRPr sz="1200" b="0">
                <a:solidFill>
                  <a:srgbClr val="E8EEF4"/>
                </a:solidFill>
                <a:latin typeface="Calibri"/>
              </a:defRPr>
            </a:pPr>
            <a:r>
              <a:t>Concrete test command</a:t>
            </a:r>
            <a:br/>
            <a:r>
              <a:t>built into every task</a:t>
            </a:r>
          </a:p>
        </p:txBody>
      </p:sp>
      <p:sp>
        <p:nvSpPr>
          <p:cNvPr id="14" name="TextBox 13"/>
          <p:cNvSpPr txBox="1"/>
          <p:nvPr/>
        </p:nvSpPr>
        <p:spPr>
          <a:xfrm>
            <a:off x="7315200" y="5303520"/>
            <a:ext cx="1828800" cy="274320"/>
          </a:xfrm>
          <a:prstGeom prst="rect">
            <a:avLst/>
          </a:prstGeom>
          <a:noFill/>
        </p:spPr>
        <p:txBody>
          <a:bodyPr wrap="square">
            <a:spAutoFit/>
          </a:bodyPr>
          <a:lstStyle/>
          <a:p>
            <a:pPr algn="l">
              <a:defRPr sz="1400" b="1">
                <a:solidFill>
                  <a:srgbClr val="00B4D8"/>
                </a:solidFill>
                <a:latin typeface="Calibri"/>
              </a:defRPr>
            </a:pPr>
            <a:r>
              <a:t>DONE</a:t>
            </a:r>
          </a:p>
        </p:txBody>
      </p:sp>
      <p:sp>
        <p:nvSpPr>
          <p:cNvPr id="15" name="TextBox 14"/>
          <p:cNvSpPr txBox="1"/>
          <p:nvPr/>
        </p:nvSpPr>
        <p:spPr>
          <a:xfrm>
            <a:off x="7315200" y="5577840"/>
            <a:ext cx="4114800" cy="548640"/>
          </a:xfrm>
          <a:prstGeom prst="rect">
            <a:avLst/>
          </a:prstGeom>
          <a:noFill/>
        </p:spPr>
        <p:txBody>
          <a:bodyPr wrap="square">
            <a:spAutoFit/>
          </a:bodyPr>
          <a:lstStyle/>
          <a:p>
            <a:pPr algn="l">
              <a:defRPr sz="1200" b="0">
                <a:solidFill>
                  <a:srgbClr val="E8EEF4"/>
                </a:solidFill>
                <a:latin typeface="Calibri"/>
              </a:defRPr>
            </a:pPr>
            <a:r>
              <a:t>Measurable acceptance</a:t>
            </a:r>
            <a:br/>
            <a:r>
              <a:t>criteria</a:t>
            </a:r>
          </a:p>
        </p:txBody>
      </p:sp>
      <p:sp>
        <p:nvSpPr>
          <p:cNvPr id="16" name="TextBox 15"/>
          <p:cNvSpPr txBox="1"/>
          <p:nvPr/>
        </p:nvSpPr>
        <p:spPr>
          <a:xfrm>
            <a:off x="731520" y="6309360"/>
            <a:ext cx="10515600" cy="365760"/>
          </a:xfrm>
          <a:prstGeom prst="rect">
            <a:avLst/>
          </a:prstGeom>
          <a:noFill/>
        </p:spPr>
        <p:txBody>
          <a:bodyPr wrap="square">
            <a:spAutoFit/>
          </a:bodyPr>
          <a:lstStyle/>
          <a:p>
            <a:pPr algn="ctr">
              <a:defRPr sz="1300" b="0">
                <a:solidFill>
                  <a:srgbClr val="999999"/>
                </a:solidFill>
                <a:latin typeface="Calibri"/>
              </a:defRPr>
            </a:pPr>
            <a:r>
              <a:t>2-3 tasks per plan — small enough for peak quality zone  |  Verification built into every task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WAVE-BASED PARALLEL EXECUTION</a:t>
            </a:r>
          </a:p>
        </p:txBody>
      </p:sp>
      <p:sp>
        <p:nvSpPr>
          <p:cNvPr id="3" name="Rectangle 2"/>
          <p:cNvSpPr/>
          <p:nvPr/>
        </p:nvSpPr>
        <p:spPr>
          <a:xfrm>
            <a:off x="731520" y="1097280"/>
            <a:ext cx="27432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371600" cy="365760"/>
          </a:xfrm>
          <a:prstGeom prst="rect">
            <a:avLst/>
          </a:prstGeom>
          <a:noFill/>
        </p:spPr>
        <p:txBody>
          <a:bodyPr wrap="square">
            <a:spAutoFit/>
          </a:bodyPr>
          <a:lstStyle/>
          <a:p>
            <a:pPr algn="l">
              <a:defRPr sz="1600" b="1">
                <a:solidFill>
                  <a:srgbClr val="00B4D8"/>
                </a:solidFill>
                <a:latin typeface="Calibri"/>
              </a:defRPr>
            </a:pPr>
            <a:r>
              <a:t>WAVE 1</a:t>
            </a:r>
          </a:p>
        </p:txBody>
      </p:sp>
      <p:sp>
        <p:nvSpPr>
          <p:cNvPr id="5" name="Rounded Rectangle 4"/>
          <p:cNvSpPr/>
          <p:nvPr/>
        </p:nvSpPr>
        <p:spPr>
          <a:xfrm>
            <a:off x="2560320" y="1737360"/>
            <a:ext cx="2926080" cy="64008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0" y="1813560"/>
            <a:ext cx="2560320" cy="365760"/>
          </a:xfrm>
          <a:prstGeom prst="rect">
            <a:avLst/>
          </a:prstGeom>
          <a:noFill/>
        </p:spPr>
        <p:txBody>
          <a:bodyPr wrap="square">
            <a:spAutoFit/>
          </a:bodyPr>
          <a:lstStyle/>
          <a:p>
            <a:pPr algn="l">
              <a:defRPr sz="1300" b="0">
                <a:solidFill>
                  <a:srgbClr val="E8EEF4"/>
                </a:solidFill>
                <a:latin typeface="Calibri"/>
              </a:defRPr>
            </a:pPr>
            <a:r>
              <a:t>Plan A: Auth endpoints</a:t>
            </a:r>
          </a:p>
        </p:txBody>
      </p:sp>
      <p:sp>
        <p:nvSpPr>
          <p:cNvPr id="7" name="TextBox 6"/>
          <p:cNvSpPr txBox="1"/>
          <p:nvPr/>
        </p:nvSpPr>
        <p:spPr>
          <a:xfrm>
            <a:off x="2743200" y="2103120"/>
            <a:ext cx="2560320" cy="274320"/>
          </a:xfrm>
          <a:prstGeom prst="rect">
            <a:avLst/>
          </a:prstGeom>
          <a:noFill/>
        </p:spPr>
        <p:txBody>
          <a:bodyPr wrap="square">
            <a:spAutoFit/>
          </a:bodyPr>
          <a:lstStyle/>
          <a:p>
            <a:pPr algn="l">
              <a:defRPr sz="1000" b="0">
                <a:solidFill>
                  <a:srgbClr val="999999"/>
                </a:solidFill>
                <a:latin typeface="Calibri"/>
              </a:defRPr>
            </a:pPr>
            <a:r>
              <a:t>⚡ Fresh 200k context</a:t>
            </a:r>
          </a:p>
        </p:txBody>
      </p:sp>
      <p:sp>
        <p:nvSpPr>
          <p:cNvPr id="8" name="Rounded Rectangle 7"/>
          <p:cNvSpPr/>
          <p:nvPr/>
        </p:nvSpPr>
        <p:spPr>
          <a:xfrm>
            <a:off x="5760720" y="1737360"/>
            <a:ext cx="2926080" cy="64008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0" y="1813560"/>
            <a:ext cx="2560320" cy="365760"/>
          </a:xfrm>
          <a:prstGeom prst="rect">
            <a:avLst/>
          </a:prstGeom>
          <a:noFill/>
        </p:spPr>
        <p:txBody>
          <a:bodyPr wrap="square">
            <a:spAutoFit/>
          </a:bodyPr>
          <a:lstStyle/>
          <a:p>
            <a:pPr algn="l">
              <a:defRPr sz="1300" b="0">
                <a:solidFill>
                  <a:srgbClr val="E8EEF4"/>
                </a:solidFill>
                <a:latin typeface="Calibri"/>
              </a:defRPr>
            </a:pPr>
            <a:r>
              <a:t>Plan B: Database schema</a:t>
            </a:r>
          </a:p>
        </p:txBody>
      </p:sp>
      <p:sp>
        <p:nvSpPr>
          <p:cNvPr id="10" name="TextBox 9"/>
          <p:cNvSpPr txBox="1"/>
          <p:nvPr/>
        </p:nvSpPr>
        <p:spPr>
          <a:xfrm>
            <a:off x="5943600" y="2103120"/>
            <a:ext cx="2560320" cy="274320"/>
          </a:xfrm>
          <a:prstGeom prst="rect">
            <a:avLst/>
          </a:prstGeom>
          <a:noFill/>
        </p:spPr>
        <p:txBody>
          <a:bodyPr wrap="square">
            <a:spAutoFit/>
          </a:bodyPr>
          <a:lstStyle/>
          <a:p>
            <a:pPr algn="l">
              <a:defRPr sz="1000" b="0">
                <a:solidFill>
                  <a:srgbClr val="999999"/>
                </a:solidFill>
                <a:latin typeface="Calibri"/>
              </a:defRPr>
            </a:pPr>
            <a:r>
              <a:t>⚡ Fresh 200k context</a:t>
            </a:r>
          </a:p>
        </p:txBody>
      </p:sp>
      <p:sp>
        <p:nvSpPr>
          <p:cNvPr id="11" name="TextBox 10"/>
          <p:cNvSpPr txBox="1"/>
          <p:nvPr/>
        </p:nvSpPr>
        <p:spPr>
          <a:xfrm>
            <a:off x="731520" y="3200400"/>
            <a:ext cx="1371600" cy="365760"/>
          </a:xfrm>
          <a:prstGeom prst="rect">
            <a:avLst/>
          </a:prstGeom>
          <a:noFill/>
        </p:spPr>
        <p:txBody>
          <a:bodyPr wrap="square">
            <a:spAutoFit/>
          </a:bodyPr>
          <a:lstStyle/>
          <a:p>
            <a:pPr algn="l">
              <a:defRPr sz="1600" b="1">
                <a:solidFill>
                  <a:srgbClr val="2ECC71"/>
                </a:solidFill>
                <a:latin typeface="Calibri"/>
              </a:defRPr>
            </a:pPr>
            <a:r>
              <a:t>WAVE 2</a:t>
            </a:r>
          </a:p>
        </p:txBody>
      </p:sp>
      <p:sp>
        <p:nvSpPr>
          <p:cNvPr id="12" name="Rounded Rectangle 11"/>
          <p:cNvSpPr/>
          <p:nvPr/>
        </p:nvSpPr>
        <p:spPr>
          <a:xfrm>
            <a:off x="2560320" y="3200400"/>
            <a:ext cx="2926080" cy="64008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3276600"/>
            <a:ext cx="2560320" cy="365760"/>
          </a:xfrm>
          <a:prstGeom prst="rect">
            <a:avLst/>
          </a:prstGeom>
          <a:noFill/>
        </p:spPr>
        <p:txBody>
          <a:bodyPr wrap="square">
            <a:spAutoFit/>
          </a:bodyPr>
          <a:lstStyle/>
          <a:p>
            <a:pPr algn="l">
              <a:defRPr sz="1300" b="0">
                <a:solidFill>
                  <a:srgbClr val="E8EEF4"/>
                </a:solidFill>
                <a:latin typeface="Calibri"/>
              </a:defRPr>
            </a:pPr>
            <a:r>
              <a:t>Plan C: Frontend (depends on A+B)</a:t>
            </a:r>
          </a:p>
        </p:txBody>
      </p:sp>
      <p:sp>
        <p:nvSpPr>
          <p:cNvPr id="14" name="TextBox 13"/>
          <p:cNvSpPr txBox="1"/>
          <p:nvPr/>
        </p:nvSpPr>
        <p:spPr>
          <a:xfrm>
            <a:off x="2743200" y="3566160"/>
            <a:ext cx="2560320" cy="274320"/>
          </a:xfrm>
          <a:prstGeom prst="rect">
            <a:avLst/>
          </a:prstGeom>
          <a:noFill/>
        </p:spPr>
        <p:txBody>
          <a:bodyPr wrap="square">
            <a:spAutoFit/>
          </a:bodyPr>
          <a:lstStyle/>
          <a:p>
            <a:pPr algn="l">
              <a:defRPr sz="1000" b="0">
                <a:solidFill>
                  <a:srgbClr val="999999"/>
                </a:solidFill>
                <a:latin typeface="Calibri"/>
              </a:defRPr>
            </a:pPr>
            <a:r>
              <a:t>⚡ Fresh 200k context</a:t>
            </a:r>
          </a:p>
        </p:txBody>
      </p:sp>
      <p:sp>
        <p:nvSpPr>
          <p:cNvPr id="15" name="TextBox 14"/>
          <p:cNvSpPr txBox="1"/>
          <p:nvPr/>
        </p:nvSpPr>
        <p:spPr>
          <a:xfrm>
            <a:off x="731520" y="4663440"/>
            <a:ext cx="1371600" cy="365760"/>
          </a:xfrm>
          <a:prstGeom prst="rect">
            <a:avLst/>
          </a:prstGeom>
          <a:noFill/>
        </p:spPr>
        <p:txBody>
          <a:bodyPr wrap="square">
            <a:spAutoFit/>
          </a:bodyPr>
          <a:lstStyle/>
          <a:p>
            <a:pPr algn="l">
              <a:defRPr sz="1600" b="1">
                <a:solidFill>
                  <a:srgbClr val="FF6B35"/>
                </a:solidFill>
                <a:latin typeface="Calibri"/>
              </a:defRPr>
            </a:pPr>
            <a:r>
              <a:t>WAVE 3</a:t>
            </a:r>
          </a:p>
        </p:txBody>
      </p:sp>
      <p:sp>
        <p:nvSpPr>
          <p:cNvPr id="16" name="Rounded Rectangle 15"/>
          <p:cNvSpPr/>
          <p:nvPr/>
        </p:nvSpPr>
        <p:spPr>
          <a:xfrm>
            <a:off x="2560320" y="4663440"/>
            <a:ext cx="2926080" cy="64008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0" y="4739640"/>
            <a:ext cx="2560320" cy="365760"/>
          </a:xfrm>
          <a:prstGeom prst="rect">
            <a:avLst/>
          </a:prstGeom>
          <a:noFill/>
        </p:spPr>
        <p:txBody>
          <a:bodyPr wrap="square">
            <a:spAutoFit/>
          </a:bodyPr>
          <a:lstStyle/>
          <a:p>
            <a:pPr algn="l">
              <a:defRPr sz="1300" b="0">
                <a:solidFill>
                  <a:srgbClr val="E8EEF4"/>
                </a:solidFill>
                <a:latin typeface="Calibri"/>
              </a:defRPr>
            </a:pPr>
            <a:r>
              <a:t>Plan D: Integration tests</a:t>
            </a:r>
          </a:p>
        </p:txBody>
      </p:sp>
      <p:sp>
        <p:nvSpPr>
          <p:cNvPr id="18" name="TextBox 17"/>
          <p:cNvSpPr txBox="1"/>
          <p:nvPr/>
        </p:nvSpPr>
        <p:spPr>
          <a:xfrm>
            <a:off x="2743200" y="5029200"/>
            <a:ext cx="2560320" cy="274320"/>
          </a:xfrm>
          <a:prstGeom prst="rect">
            <a:avLst/>
          </a:prstGeom>
          <a:noFill/>
        </p:spPr>
        <p:txBody>
          <a:bodyPr wrap="square">
            <a:spAutoFit/>
          </a:bodyPr>
          <a:lstStyle/>
          <a:p>
            <a:pPr algn="l">
              <a:defRPr sz="1000" b="0">
                <a:solidFill>
                  <a:srgbClr val="999999"/>
                </a:solidFill>
                <a:latin typeface="Calibri"/>
              </a:defRPr>
            </a:pPr>
            <a:r>
              <a:t>⚡ Fresh 200k context</a:t>
            </a:r>
          </a:p>
        </p:txBody>
      </p:sp>
      <p:sp>
        <p:nvSpPr>
          <p:cNvPr id="19" name="Rounded Rectangle 18"/>
          <p:cNvSpPr/>
          <p:nvPr/>
        </p:nvSpPr>
        <p:spPr>
          <a:xfrm>
            <a:off x="6858000" y="1737360"/>
            <a:ext cx="4572000" cy="3200400"/>
          </a:xfrm>
          <a:prstGeom prst="roundRect">
            <a:avLst/>
          </a:prstGeom>
          <a:solidFill>
            <a:srgbClr val="0A1228"/>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1920240"/>
            <a:ext cx="3657600" cy="365760"/>
          </a:xfrm>
          <a:prstGeom prst="rect">
            <a:avLst/>
          </a:prstGeom>
          <a:noFill/>
        </p:spPr>
        <p:txBody>
          <a:bodyPr wrap="square">
            <a:spAutoFit/>
          </a:bodyPr>
          <a:lstStyle/>
          <a:p>
            <a:pPr algn="l">
              <a:defRPr sz="1600" b="1">
                <a:solidFill>
                  <a:srgbClr val="2ECC71"/>
                </a:solidFill>
                <a:latin typeface="Calibri"/>
              </a:defRPr>
            </a:pPr>
            <a:r>
              <a:t>ATOMIC GIT COMMITS</a:t>
            </a:r>
          </a:p>
        </p:txBody>
      </p:sp>
      <p:sp>
        <p:nvSpPr>
          <p:cNvPr id="21" name="TextBox 20"/>
          <p:cNvSpPr txBox="1"/>
          <p:nvPr/>
        </p:nvSpPr>
        <p:spPr>
          <a:xfrm>
            <a:off x="7132320" y="2468880"/>
            <a:ext cx="4114800" cy="2286000"/>
          </a:xfrm>
          <a:prstGeom prst="rect">
            <a:avLst/>
          </a:prstGeom>
          <a:noFill/>
        </p:spPr>
        <p:txBody>
          <a:bodyPr wrap="square">
            <a:spAutoFit/>
          </a:bodyPr>
          <a:lstStyle/>
          <a:p>
            <a:pPr>
              <a:spcAft>
                <a:spcPts val="1000"/>
              </a:spcAft>
              <a:defRPr sz="1200">
                <a:solidFill>
                  <a:srgbClr val="E8EEF4"/>
                </a:solidFill>
                <a:latin typeface="Calibri"/>
              </a:defRPr>
            </a:pPr>
            <a:r>
              <a:t>abc123 feat(01-01): create auth endpoints</a:t>
            </a:r>
          </a:p>
          <a:p>
            <a:pPr>
              <a:spcAft>
                <a:spcPts val="1000"/>
              </a:spcAft>
              <a:defRPr sz="1200">
                <a:solidFill>
                  <a:srgbClr val="E8EEF4"/>
                </a:solidFill>
                <a:latin typeface="Calibri"/>
              </a:defRPr>
            </a:pPr>
            <a:r>
              <a:t>def456 feat(01-01): add database schema</a:t>
            </a:r>
          </a:p>
          <a:p>
            <a:pPr>
              <a:spcAft>
                <a:spcPts val="1000"/>
              </a:spcAft>
              <a:defRPr sz="1200">
                <a:solidFill>
                  <a:srgbClr val="E8EEF4"/>
                </a:solidFill>
                <a:latin typeface="Calibri"/>
              </a:defRPr>
            </a:pPr>
            <a:r>
              <a:t>hij789 feat(01-02): build frontend forms</a:t>
            </a:r>
          </a:p>
          <a:p>
            <a:pPr>
              <a:spcAft>
                <a:spcPts val="1000"/>
              </a:spcAft>
              <a:defRPr sz="1200">
                <a:solidFill>
                  <a:srgbClr val="E8EEF4"/>
                </a:solidFill>
                <a:latin typeface="Calibri"/>
              </a:defRPr>
            </a:pPr>
            <a:r>
              <a:t>lmn012 test(01-03): add integration tests</a:t>
            </a:r>
          </a:p>
        </p:txBody>
      </p:sp>
      <p:sp>
        <p:nvSpPr>
          <p:cNvPr id="22" name="Rounded Rectangle 21"/>
          <p:cNvSpPr/>
          <p:nvPr/>
        </p:nvSpPr>
        <p:spPr>
          <a:xfrm>
            <a:off x="457200" y="5303520"/>
            <a:ext cx="2743200" cy="822960"/>
          </a:xfrm>
          <a:prstGeom prst="roundRect">
            <a:avLst/>
          </a:prstGeom>
          <a:solidFill>
            <a:srgbClr val="15223E"/>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5405120"/>
            <a:ext cx="2468880" cy="640080"/>
          </a:xfrm>
          <a:prstGeom prst="rect">
            <a:avLst/>
          </a:prstGeom>
          <a:noFill/>
        </p:spPr>
        <p:txBody>
          <a:bodyPr wrap="square">
            <a:spAutoFit/>
          </a:bodyPr>
          <a:lstStyle/>
          <a:p>
            <a:pPr algn="ctr">
              <a:defRPr sz="1200" b="0">
                <a:solidFill>
                  <a:srgbClr val="E8EEF4"/>
                </a:solidFill>
                <a:latin typeface="Calibri"/>
              </a:defRPr>
            </a:pPr>
            <a:r>
              <a:t>Parallel within waves, sequential across waves</a:t>
            </a:r>
          </a:p>
        </p:txBody>
      </p:sp>
      <p:sp>
        <p:nvSpPr>
          <p:cNvPr id="24" name="Rounded Rectangle 23"/>
          <p:cNvSpPr/>
          <p:nvPr/>
        </p:nvSpPr>
        <p:spPr>
          <a:xfrm>
            <a:off x="3383280" y="5303520"/>
            <a:ext cx="2743200" cy="822960"/>
          </a:xfrm>
          <a:prstGeom prst="roundRect">
            <a:avLst/>
          </a:prstGeom>
          <a:solidFill>
            <a:srgbClr val="15223E"/>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0440" y="5405120"/>
            <a:ext cx="2468880" cy="640080"/>
          </a:xfrm>
          <a:prstGeom prst="rect">
            <a:avLst/>
          </a:prstGeom>
          <a:noFill/>
        </p:spPr>
        <p:txBody>
          <a:bodyPr wrap="square">
            <a:spAutoFit/>
          </a:bodyPr>
          <a:lstStyle/>
          <a:p>
            <a:pPr algn="ctr">
              <a:defRPr sz="1200" b="0">
                <a:solidFill>
                  <a:srgbClr val="E8EEF4"/>
                </a:solidFill>
                <a:latin typeface="Calibri"/>
              </a:defRPr>
            </a:pPr>
            <a:r>
              <a:t>Every task = one atomic commit</a:t>
            </a:r>
          </a:p>
        </p:txBody>
      </p:sp>
      <p:sp>
        <p:nvSpPr>
          <p:cNvPr id="26" name="Rounded Rectangle 25"/>
          <p:cNvSpPr/>
          <p:nvPr/>
        </p:nvSpPr>
        <p:spPr>
          <a:xfrm>
            <a:off x="6309360" y="5303520"/>
            <a:ext cx="2743200" cy="822960"/>
          </a:xfrm>
          <a:prstGeom prst="roundRect">
            <a:avLst/>
          </a:prstGeom>
          <a:solidFill>
            <a:srgbClr val="15223E"/>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5405120"/>
            <a:ext cx="2468880" cy="640080"/>
          </a:xfrm>
          <a:prstGeom prst="rect">
            <a:avLst/>
          </a:prstGeom>
          <a:noFill/>
        </p:spPr>
        <p:txBody>
          <a:bodyPr wrap="square">
            <a:spAutoFit/>
          </a:bodyPr>
          <a:lstStyle/>
          <a:p>
            <a:pPr algn="ctr">
              <a:defRPr sz="1200" b="0">
                <a:solidFill>
                  <a:srgbClr val="E8EEF4"/>
                </a:solidFill>
                <a:latin typeface="Calibri"/>
              </a:defRPr>
            </a:pPr>
            <a:r>
              <a:t>Git bisect finds exact failing task</a:t>
            </a:r>
          </a:p>
        </p:txBody>
      </p:sp>
      <p:sp>
        <p:nvSpPr>
          <p:cNvPr id="28" name="Rounded Rectangle 27"/>
          <p:cNvSpPr/>
          <p:nvPr/>
        </p:nvSpPr>
        <p:spPr>
          <a:xfrm>
            <a:off x="9235440" y="5303520"/>
            <a:ext cx="2743200" cy="822960"/>
          </a:xfrm>
          <a:prstGeom prst="roundRect">
            <a:avLst/>
          </a:prstGeom>
          <a:solidFill>
            <a:srgbClr val="15223E"/>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72600" y="5405120"/>
            <a:ext cx="2468880" cy="640080"/>
          </a:xfrm>
          <a:prstGeom prst="rect">
            <a:avLst/>
          </a:prstGeom>
          <a:noFill/>
        </p:spPr>
        <p:txBody>
          <a:bodyPr wrap="square">
            <a:spAutoFit/>
          </a:bodyPr>
          <a:lstStyle/>
          <a:p>
            <a:pPr algn="ctr">
              <a:defRPr sz="1200" b="0">
                <a:solidFill>
                  <a:srgbClr val="E8EEF4"/>
                </a:solidFill>
                <a:latin typeface="Calibri"/>
              </a:defRPr>
            </a:pPr>
            <a:r>
              <a:t>Walk away, come back to completed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GOAL-BACKWARD VERIFICATION</a:t>
            </a:r>
          </a:p>
        </p:txBody>
      </p:sp>
      <p:sp>
        <p:nvSpPr>
          <p:cNvPr id="3" name="Rectangle 2"/>
          <p:cNvSpPr/>
          <p:nvPr/>
        </p:nvSpPr>
        <p:spPr>
          <a:xfrm>
            <a:off x="731520" y="1097280"/>
            <a:ext cx="27432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0" y="1828800"/>
            <a:ext cx="5029200" cy="1097280"/>
          </a:xfrm>
          <a:prstGeom prst="roundRect">
            <a:avLst/>
          </a:prstGeom>
          <a:solidFill>
            <a:srgbClr val="15223E"/>
          </a:solidFill>
          <a:ln w="12700">
            <a:solidFill>
              <a:srgbClr val="AF7A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1879600"/>
            <a:ext cx="4480560" cy="274320"/>
          </a:xfrm>
          <a:prstGeom prst="rect">
            <a:avLst/>
          </a:prstGeom>
          <a:noFill/>
        </p:spPr>
        <p:txBody>
          <a:bodyPr wrap="square">
            <a:spAutoFit/>
          </a:bodyPr>
          <a:lstStyle/>
          <a:p>
            <a:pPr algn="ctr">
              <a:defRPr sz="1400" b="1">
                <a:solidFill>
                  <a:srgbClr val="AF7AC5"/>
                </a:solidFill>
                <a:latin typeface="Calibri"/>
              </a:defRPr>
            </a:pPr>
            <a:r>
              <a:t>LEVEL 3: WIRED</a:t>
            </a:r>
          </a:p>
        </p:txBody>
      </p:sp>
      <p:sp>
        <p:nvSpPr>
          <p:cNvPr id="6" name="TextBox 5"/>
          <p:cNvSpPr txBox="1"/>
          <p:nvPr/>
        </p:nvSpPr>
        <p:spPr>
          <a:xfrm>
            <a:off x="3474720" y="2194560"/>
            <a:ext cx="4480560" cy="640080"/>
          </a:xfrm>
          <a:prstGeom prst="rect">
            <a:avLst/>
          </a:prstGeom>
          <a:noFill/>
        </p:spPr>
        <p:txBody>
          <a:bodyPr wrap="square">
            <a:spAutoFit/>
          </a:bodyPr>
          <a:lstStyle/>
          <a:p>
            <a:pPr algn="ctr">
              <a:defRPr sz="1200" b="0">
                <a:solidFill>
                  <a:srgbClr val="E8EEF4"/>
                </a:solidFill>
                <a:latin typeface="Calibri"/>
              </a:defRPr>
            </a:pPr>
            <a:r>
              <a:t>Connected to the system</a:t>
            </a:r>
            <a:br/>
            <a:r>
              <a:t>Component→API, API→DB, Form→Handler</a:t>
            </a:r>
          </a:p>
        </p:txBody>
      </p:sp>
      <p:sp>
        <p:nvSpPr>
          <p:cNvPr id="7" name="Rounded Rectangle 6"/>
          <p:cNvSpPr/>
          <p:nvPr/>
        </p:nvSpPr>
        <p:spPr>
          <a:xfrm>
            <a:off x="2011680" y="3200400"/>
            <a:ext cx="6858000" cy="109728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3251200"/>
            <a:ext cx="6309360" cy="274320"/>
          </a:xfrm>
          <a:prstGeom prst="rect">
            <a:avLst/>
          </a:prstGeom>
          <a:noFill/>
        </p:spPr>
        <p:txBody>
          <a:bodyPr wrap="square">
            <a:spAutoFit/>
          </a:bodyPr>
          <a:lstStyle/>
          <a:p>
            <a:pPr algn="ctr">
              <a:defRPr sz="1400" b="1">
                <a:solidFill>
                  <a:srgbClr val="FF6B35"/>
                </a:solidFill>
                <a:latin typeface="Calibri"/>
              </a:defRPr>
            </a:pPr>
            <a:r>
              <a:t>LEVEL 2: SUBSTANTIVE</a:t>
            </a:r>
          </a:p>
        </p:txBody>
      </p:sp>
      <p:sp>
        <p:nvSpPr>
          <p:cNvPr id="9" name="TextBox 8"/>
          <p:cNvSpPr txBox="1"/>
          <p:nvPr/>
        </p:nvSpPr>
        <p:spPr>
          <a:xfrm>
            <a:off x="2286000" y="3566160"/>
            <a:ext cx="6309360" cy="640080"/>
          </a:xfrm>
          <a:prstGeom prst="rect">
            <a:avLst/>
          </a:prstGeom>
          <a:noFill/>
        </p:spPr>
        <p:txBody>
          <a:bodyPr wrap="square">
            <a:spAutoFit/>
          </a:bodyPr>
          <a:lstStyle/>
          <a:p>
            <a:pPr algn="ctr">
              <a:defRPr sz="1200" b="0">
                <a:solidFill>
                  <a:srgbClr val="E8EEF4"/>
                </a:solidFill>
                <a:latin typeface="Calibri"/>
              </a:defRPr>
            </a:pPr>
            <a:r>
              <a:t>Real implementation, not stubs</a:t>
            </a:r>
            <a:br/>
            <a:r>
              <a:t>No TODOs, placeholders, or hardcoded values</a:t>
            </a:r>
          </a:p>
        </p:txBody>
      </p:sp>
      <p:sp>
        <p:nvSpPr>
          <p:cNvPr id="10" name="Rounded Rectangle 9"/>
          <p:cNvSpPr/>
          <p:nvPr/>
        </p:nvSpPr>
        <p:spPr>
          <a:xfrm>
            <a:off x="914400" y="4572000"/>
            <a:ext cx="8686800" cy="109728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622800"/>
            <a:ext cx="8138160" cy="274320"/>
          </a:xfrm>
          <a:prstGeom prst="rect">
            <a:avLst/>
          </a:prstGeom>
          <a:noFill/>
        </p:spPr>
        <p:txBody>
          <a:bodyPr wrap="square">
            <a:spAutoFit/>
          </a:bodyPr>
          <a:lstStyle/>
          <a:p>
            <a:pPr algn="ctr">
              <a:defRPr sz="1400" b="1">
                <a:solidFill>
                  <a:srgbClr val="2ECC71"/>
                </a:solidFill>
                <a:latin typeface="Calibri"/>
              </a:defRPr>
            </a:pPr>
            <a:r>
              <a:t>LEVEL 1: EXISTS</a:t>
            </a:r>
          </a:p>
        </p:txBody>
      </p:sp>
      <p:sp>
        <p:nvSpPr>
          <p:cNvPr id="12" name="TextBox 11"/>
          <p:cNvSpPr txBox="1"/>
          <p:nvPr/>
        </p:nvSpPr>
        <p:spPr>
          <a:xfrm>
            <a:off x="1188720" y="4937760"/>
            <a:ext cx="8138160" cy="640080"/>
          </a:xfrm>
          <a:prstGeom prst="rect">
            <a:avLst/>
          </a:prstGeom>
          <a:noFill/>
        </p:spPr>
        <p:txBody>
          <a:bodyPr wrap="square">
            <a:spAutoFit/>
          </a:bodyPr>
          <a:lstStyle/>
          <a:p>
            <a:pPr algn="ctr">
              <a:defRPr sz="1200" b="0">
                <a:solidFill>
                  <a:srgbClr val="E8EEF4"/>
                </a:solidFill>
                <a:latin typeface="Calibri"/>
              </a:defRPr>
            </a:pPr>
            <a:r>
              <a:t>File/component is present in the codebase</a:t>
            </a:r>
          </a:p>
        </p:txBody>
      </p:sp>
      <p:sp>
        <p:nvSpPr>
          <p:cNvPr id="13" name="Rounded Rectangle 12"/>
          <p:cNvSpPr/>
          <p:nvPr/>
        </p:nvSpPr>
        <p:spPr>
          <a:xfrm>
            <a:off x="7772400" y="1828800"/>
            <a:ext cx="3840480" cy="4114800"/>
          </a:xfrm>
          <a:prstGeom prst="roundRect">
            <a:avLst/>
          </a:prstGeom>
          <a:solidFill>
            <a:srgbClr val="15223E"/>
          </a:solidFill>
          <a:ln w="127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2011680"/>
            <a:ext cx="3291840" cy="457200"/>
          </a:xfrm>
          <a:prstGeom prst="rect">
            <a:avLst/>
          </a:prstGeom>
          <a:noFill/>
        </p:spPr>
        <p:txBody>
          <a:bodyPr wrap="square">
            <a:spAutoFit/>
          </a:bodyPr>
          <a:lstStyle/>
          <a:p>
            <a:pPr algn="l">
              <a:defRPr sz="1800" b="1">
                <a:solidFill>
                  <a:srgbClr val="E74C3C"/>
                </a:solidFill>
                <a:latin typeface="Calibri"/>
              </a:defRPr>
            </a:pPr>
            <a:r>
              <a:t>CORE PRINCIPLE</a:t>
            </a:r>
          </a:p>
        </p:txBody>
      </p:sp>
      <p:sp>
        <p:nvSpPr>
          <p:cNvPr id="15" name="TextBox 14"/>
          <p:cNvSpPr txBox="1"/>
          <p:nvPr/>
        </p:nvSpPr>
        <p:spPr>
          <a:xfrm>
            <a:off x="8046720" y="2651760"/>
            <a:ext cx="3291840" cy="2926080"/>
          </a:xfrm>
          <a:prstGeom prst="rect">
            <a:avLst/>
          </a:prstGeom>
          <a:noFill/>
        </p:spPr>
        <p:txBody>
          <a:bodyPr wrap="square">
            <a:spAutoFit/>
          </a:bodyPr>
          <a:lstStyle/>
          <a:p>
            <a:pPr>
              <a:spcAft>
                <a:spcPts val="1400"/>
              </a:spcAft>
              <a:defRPr sz="1300">
                <a:solidFill>
                  <a:srgbClr val="E8EEF4"/>
                </a:solidFill>
                <a:latin typeface="Calibri"/>
              </a:defRPr>
            </a:pPr>
            <a:r>
              <a:t>Task completion ≠ Goal achievement</a:t>
            </a:r>
          </a:p>
          <a:p>
            <a:pPr>
              <a:spcAft>
                <a:spcPts val="1400"/>
              </a:spcAft>
              <a:defRPr sz="1300">
                <a:solidFill>
                  <a:srgbClr val="E8EEF4"/>
                </a:solidFill>
                <a:latin typeface="Calibri"/>
              </a:defRPr>
            </a:pPr>
            <a:r>
              <a:t>Never trust SUMMARY claims blindly</a:t>
            </a:r>
          </a:p>
          <a:p>
            <a:pPr>
              <a:spcAft>
                <a:spcPts val="1400"/>
              </a:spcAft>
              <a:defRPr sz="1300">
                <a:solidFill>
                  <a:srgbClr val="E8EEF4"/>
                </a:solidFill>
                <a:latin typeface="Calibri"/>
              </a:defRPr>
            </a:pPr>
            <a:r>
              <a:t>Detect stubs: TODOs, placeholders, empty returns</a:t>
            </a:r>
          </a:p>
          <a:p>
            <a:pPr>
              <a:spcAft>
                <a:spcPts val="1400"/>
              </a:spcAft>
              <a:defRPr sz="1300">
                <a:solidFill>
                  <a:srgbClr val="E8EEF4"/>
                </a:solidFill>
                <a:latin typeface="Calibri"/>
              </a:defRPr>
            </a:pPr>
            <a:r>
              <a:t>Gaps feed back into planner for closure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CONFIGURATION &amp; MODEL PROFILES</a:t>
            </a:r>
          </a:p>
        </p:txBody>
      </p:sp>
      <p:sp>
        <p:nvSpPr>
          <p:cNvPr id="3" name="Rectangle 2"/>
          <p:cNvSpPr/>
          <p:nvPr/>
        </p:nvSpPr>
        <p:spPr>
          <a:xfrm>
            <a:off x="731520" y="1097280"/>
            <a:ext cx="27432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45920"/>
            <a:ext cx="256032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6720"/>
            <a:ext cx="2286000" cy="502920"/>
          </a:xfrm>
          <a:prstGeom prst="rect">
            <a:avLst/>
          </a:prstGeom>
          <a:noFill/>
        </p:spPr>
        <p:txBody>
          <a:bodyPr wrap="square">
            <a:spAutoFit/>
          </a:bodyPr>
          <a:lstStyle/>
          <a:p>
            <a:pPr algn="ctr">
              <a:defRPr sz="1400" b="1">
                <a:solidFill>
                  <a:srgbClr val="0F1A33"/>
                </a:solidFill>
                <a:latin typeface="Calibri"/>
              </a:defRPr>
            </a:pPr>
            <a:r>
              <a:t>PROFILE</a:t>
            </a:r>
          </a:p>
        </p:txBody>
      </p:sp>
      <p:sp>
        <p:nvSpPr>
          <p:cNvPr id="6" name="Rectangle 5"/>
          <p:cNvSpPr/>
          <p:nvPr/>
        </p:nvSpPr>
        <p:spPr>
          <a:xfrm>
            <a:off x="3291840" y="1645920"/>
            <a:ext cx="256032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29000" y="1696720"/>
            <a:ext cx="2286000" cy="502920"/>
          </a:xfrm>
          <a:prstGeom prst="rect">
            <a:avLst/>
          </a:prstGeom>
          <a:noFill/>
        </p:spPr>
        <p:txBody>
          <a:bodyPr wrap="square">
            <a:spAutoFit/>
          </a:bodyPr>
          <a:lstStyle/>
          <a:p>
            <a:pPr algn="ctr">
              <a:defRPr sz="1400" b="1">
                <a:solidFill>
                  <a:srgbClr val="0F1A33"/>
                </a:solidFill>
                <a:latin typeface="Calibri"/>
              </a:defRPr>
            </a:pPr>
            <a:r>
              <a:t>PLANNING</a:t>
            </a:r>
          </a:p>
        </p:txBody>
      </p:sp>
      <p:sp>
        <p:nvSpPr>
          <p:cNvPr id="8" name="Rectangle 7"/>
          <p:cNvSpPr/>
          <p:nvPr/>
        </p:nvSpPr>
        <p:spPr>
          <a:xfrm>
            <a:off x="5852160" y="1645920"/>
            <a:ext cx="256032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89320" y="1696720"/>
            <a:ext cx="2286000" cy="502920"/>
          </a:xfrm>
          <a:prstGeom prst="rect">
            <a:avLst/>
          </a:prstGeom>
          <a:noFill/>
        </p:spPr>
        <p:txBody>
          <a:bodyPr wrap="square">
            <a:spAutoFit/>
          </a:bodyPr>
          <a:lstStyle/>
          <a:p>
            <a:pPr algn="ctr">
              <a:defRPr sz="1400" b="1">
                <a:solidFill>
                  <a:srgbClr val="0F1A33"/>
                </a:solidFill>
                <a:latin typeface="Calibri"/>
              </a:defRPr>
            </a:pPr>
            <a:r>
              <a:t>EXECUTION</a:t>
            </a:r>
          </a:p>
        </p:txBody>
      </p:sp>
      <p:sp>
        <p:nvSpPr>
          <p:cNvPr id="10" name="Rectangle 9"/>
          <p:cNvSpPr/>
          <p:nvPr/>
        </p:nvSpPr>
        <p:spPr>
          <a:xfrm>
            <a:off x="8412479" y="1645920"/>
            <a:ext cx="256032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39" y="1696720"/>
            <a:ext cx="2286000" cy="502920"/>
          </a:xfrm>
          <a:prstGeom prst="rect">
            <a:avLst/>
          </a:prstGeom>
          <a:noFill/>
        </p:spPr>
        <p:txBody>
          <a:bodyPr wrap="square">
            <a:spAutoFit/>
          </a:bodyPr>
          <a:lstStyle/>
          <a:p>
            <a:pPr algn="ctr">
              <a:defRPr sz="1400" b="1">
                <a:solidFill>
                  <a:srgbClr val="0F1A33"/>
                </a:solidFill>
                <a:latin typeface="Calibri"/>
              </a:defRPr>
            </a:pPr>
            <a:r>
              <a:t>VERIFICATION</a:t>
            </a:r>
          </a:p>
        </p:txBody>
      </p:sp>
      <p:sp>
        <p:nvSpPr>
          <p:cNvPr id="12" name="Rectangle 11"/>
          <p:cNvSpPr/>
          <p:nvPr/>
        </p:nvSpPr>
        <p:spPr>
          <a:xfrm>
            <a:off x="731520" y="2194560"/>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245360"/>
            <a:ext cx="2286000" cy="502920"/>
          </a:xfrm>
          <a:prstGeom prst="rect">
            <a:avLst/>
          </a:prstGeom>
          <a:noFill/>
        </p:spPr>
        <p:txBody>
          <a:bodyPr wrap="square">
            <a:spAutoFit/>
          </a:bodyPr>
          <a:lstStyle/>
          <a:p>
            <a:pPr algn="ctr">
              <a:defRPr sz="1400" b="1">
                <a:solidFill>
                  <a:srgbClr val="E8EEF4"/>
                </a:solidFill>
                <a:latin typeface="Calibri"/>
              </a:defRPr>
            </a:pPr>
            <a:r>
              <a:t>Quality</a:t>
            </a:r>
          </a:p>
        </p:txBody>
      </p:sp>
      <p:sp>
        <p:nvSpPr>
          <p:cNvPr id="14" name="Rectangle 13"/>
          <p:cNvSpPr/>
          <p:nvPr/>
        </p:nvSpPr>
        <p:spPr>
          <a:xfrm>
            <a:off x="3291840" y="2194560"/>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2245360"/>
            <a:ext cx="2286000" cy="502920"/>
          </a:xfrm>
          <a:prstGeom prst="rect">
            <a:avLst/>
          </a:prstGeom>
          <a:noFill/>
        </p:spPr>
        <p:txBody>
          <a:bodyPr wrap="square">
            <a:spAutoFit/>
          </a:bodyPr>
          <a:lstStyle/>
          <a:p>
            <a:pPr algn="ctr">
              <a:defRPr sz="1400" b="0">
                <a:solidFill>
                  <a:srgbClr val="E8EEF4"/>
                </a:solidFill>
                <a:latin typeface="Calibri"/>
              </a:defRPr>
            </a:pPr>
            <a:r>
              <a:t>Opus</a:t>
            </a:r>
          </a:p>
        </p:txBody>
      </p:sp>
      <p:sp>
        <p:nvSpPr>
          <p:cNvPr id="16" name="Rectangle 15"/>
          <p:cNvSpPr/>
          <p:nvPr/>
        </p:nvSpPr>
        <p:spPr>
          <a:xfrm>
            <a:off x="5852160" y="2194560"/>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2245360"/>
            <a:ext cx="2286000" cy="502920"/>
          </a:xfrm>
          <a:prstGeom prst="rect">
            <a:avLst/>
          </a:prstGeom>
          <a:noFill/>
        </p:spPr>
        <p:txBody>
          <a:bodyPr wrap="square">
            <a:spAutoFit/>
          </a:bodyPr>
          <a:lstStyle/>
          <a:p>
            <a:pPr algn="ctr">
              <a:defRPr sz="1400" b="0">
                <a:solidFill>
                  <a:srgbClr val="E8EEF4"/>
                </a:solidFill>
                <a:latin typeface="Calibri"/>
              </a:defRPr>
            </a:pPr>
            <a:r>
              <a:t>Opus</a:t>
            </a:r>
          </a:p>
        </p:txBody>
      </p:sp>
      <p:sp>
        <p:nvSpPr>
          <p:cNvPr id="18" name="Rectangle 17"/>
          <p:cNvSpPr/>
          <p:nvPr/>
        </p:nvSpPr>
        <p:spPr>
          <a:xfrm>
            <a:off x="8412479" y="2194560"/>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39" y="2245360"/>
            <a:ext cx="2286000" cy="502920"/>
          </a:xfrm>
          <a:prstGeom prst="rect">
            <a:avLst/>
          </a:prstGeom>
          <a:noFill/>
        </p:spPr>
        <p:txBody>
          <a:bodyPr wrap="square">
            <a:spAutoFit/>
          </a:bodyPr>
          <a:lstStyle/>
          <a:p>
            <a:pPr algn="ctr">
              <a:defRPr sz="1400" b="0">
                <a:solidFill>
                  <a:srgbClr val="E8EEF4"/>
                </a:solidFill>
                <a:latin typeface="Calibri"/>
              </a:defRPr>
            </a:pPr>
            <a:r>
              <a:t>Sonnet</a:t>
            </a:r>
          </a:p>
        </p:txBody>
      </p:sp>
      <p:sp>
        <p:nvSpPr>
          <p:cNvPr id="20" name="Rectangle 19"/>
          <p:cNvSpPr/>
          <p:nvPr/>
        </p:nvSpPr>
        <p:spPr>
          <a:xfrm>
            <a:off x="731520" y="2743200"/>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794000"/>
            <a:ext cx="2286000" cy="502920"/>
          </a:xfrm>
          <a:prstGeom prst="rect">
            <a:avLst/>
          </a:prstGeom>
          <a:noFill/>
        </p:spPr>
        <p:txBody>
          <a:bodyPr wrap="square">
            <a:spAutoFit/>
          </a:bodyPr>
          <a:lstStyle/>
          <a:p>
            <a:pPr algn="ctr">
              <a:defRPr sz="1400" b="1">
                <a:solidFill>
                  <a:srgbClr val="E8EEF4"/>
                </a:solidFill>
                <a:latin typeface="Calibri"/>
              </a:defRPr>
            </a:pPr>
            <a:r>
              <a:t>Balanced</a:t>
            </a:r>
          </a:p>
        </p:txBody>
      </p:sp>
      <p:sp>
        <p:nvSpPr>
          <p:cNvPr id="22" name="Rectangle 21"/>
          <p:cNvSpPr/>
          <p:nvPr/>
        </p:nvSpPr>
        <p:spPr>
          <a:xfrm>
            <a:off x="3291840" y="2743200"/>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2794000"/>
            <a:ext cx="2286000" cy="502920"/>
          </a:xfrm>
          <a:prstGeom prst="rect">
            <a:avLst/>
          </a:prstGeom>
          <a:noFill/>
        </p:spPr>
        <p:txBody>
          <a:bodyPr wrap="square">
            <a:spAutoFit/>
          </a:bodyPr>
          <a:lstStyle/>
          <a:p>
            <a:pPr algn="ctr">
              <a:defRPr sz="1400" b="0">
                <a:solidFill>
                  <a:srgbClr val="E8EEF4"/>
                </a:solidFill>
                <a:latin typeface="Calibri"/>
              </a:defRPr>
            </a:pPr>
            <a:r>
              <a:t>Opus</a:t>
            </a:r>
          </a:p>
        </p:txBody>
      </p:sp>
      <p:sp>
        <p:nvSpPr>
          <p:cNvPr id="24" name="Rectangle 23"/>
          <p:cNvSpPr/>
          <p:nvPr/>
        </p:nvSpPr>
        <p:spPr>
          <a:xfrm>
            <a:off x="5852160" y="2743200"/>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89320" y="2794000"/>
            <a:ext cx="2286000" cy="502920"/>
          </a:xfrm>
          <a:prstGeom prst="rect">
            <a:avLst/>
          </a:prstGeom>
          <a:noFill/>
        </p:spPr>
        <p:txBody>
          <a:bodyPr wrap="square">
            <a:spAutoFit/>
          </a:bodyPr>
          <a:lstStyle/>
          <a:p>
            <a:pPr algn="ctr">
              <a:defRPr sz="1400" b="0">
                <a:solidFill>
                  <a:srgbClr val="E8EEF4"/>
                </a:solidFill>
                <a:latin typeface="Calibri"/>
              </a:defRPr>
            </a:pPr>
            <a:r>
              <a:t>Sonnet</a:t>
            </a:r>
          </a:p>
        </p:txBody>
      </p:sp>
      <p:sp>
        <p:nvSpPr>
          <p:cNvPr id="26" name="Rectangle 25"/>
          <p:cNvSpPr/>
          <p:nvPr/>
        </p:nvSpPr>
        <p:spPr>
          <a:xfrm>
            <a:off x="8412479" y="2743200"/>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39" y="2794000"/>
            <a:ext cx="2286000" cy="502920"/>
          </a:xfrm>
          <a:prstGeom prst="rect">
            <a:avLst/>
          </a:prstGeom>
          <a:noFill/>
        </p:spPr>
        <p:txBody>
          <a:bodyPr wrap="square">
            <a:spAutoFit/>
          </a:bodyPr>
          <a:lstStyle/>
          <a:p>
            <a:pPr algn="ctr">
              <a:defRPr sz="1400" b="0">
                <a:solidFill>
                  <a:srgbClr val="E8EEF4"/>
                </a:solidFill>
                <a:latin typeface="Calibri"/>
              </a:defRPr>
            </a:pPr>
            <a:r>
              <a:t>Sonnet</a:t>
            </a:r>
          </a:p>
        </p:txBody>
      </p:sp>
      <p:sp>
        <p:nvSpPr>
          <p:cNvPr id="28" name="Rectangle 27"/>
          <p:cNvSpPr/>
          <p:nvPr/>
        </p:nvSpPr>
        <p:spPr>
          <a:xfrm>
            <a:off x="731520" y="3291839"/>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3342639"/>
            <a:ext cx="2286000" cy="502920"/>
          </a:xfrm>
          <a:prstGeom prst="rect">
            <a:avLst/>
          </a:prstGeom>
          <a:noFill/>
        </p:spPr>
        <p:txBody>
          <a:bodyPr wrap="square">
            <a:spAutoFit/>
          </a:bodyPr>
          <a:lstStyle/>
          <a:p>
            <a:pPr algn="ctr">
              <a:defRPr sz="1400" b="1">
                <a:solidFill>
                  <a:srgbClr val="E8EEF4"/>
                </a:solidFill>
                <a:latin typeface="Calibri"/>
              </a:defRPr>
            </a:pPr>
            <a:r>
              <a:t>Budget</a:t>
            </a:r>
          </a:p>
        </p:txBody>
      </p:sp>
      <p:sp>
        <p:nvSpPr>
          <p:cNvPr id="30" name="Rectangle 29"/>
          <p:cNvSpPr/>
          <p:nvPr/>
        </p:nvSpPr>
        <p:spPr>
          <a:xfrm>
            <a:off x="3291840" y="3291839"/>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29000" y="3342639"/>
            <a:ext cx="2286000" cy="502920"/>
          </a:xfrm>
          <a:prstGeom prst="rect">
            <a:avLst/>
          </a:prstGeom>
          <a:noFill/>
        </p:spPr>
        <p:txBody>
          <a:bodyPr wrap="square">
            <a:spAutoFit/>
          </a:bodyPr>
          <a:lstStyle/>
          <a:p>
            <a:pPr algn="ctr">
              <a:defRPr sz="1400" b="0">
                <a:solidFill>
                  <a:srgbClr val="E8EEF4"/>
                </a:solidFill>
                <a:latin typeface="Calibri"/>
              </a:defRPr>
            </a:pPr>
            <a:r>
              <a:t>Sonnet</a:t>
            </a:r>
          </a:p>
        </p:txBody>
      </p:sp>
      <p:sp>
        <p:nvSpPr>
          <p:cNvPr id="32" name="Rectangle 31"/>
          <p:cNvSpPr/>
          <p:nvPr/>
        </p:nvSpPr>
        <p:spPr>
          <a:xfrm>
            <a:off x="5852160" y="3291839"/>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9320" y="3342639"/>
            <a:ext cx="2286000" cy="502920"/>
          </a:xfrm>
          <a:prstGeom prst="rect">
            <a:avLst/>
          </a:prstGeom>
          <a:noFill/>
        </p:spPr>
        <p:txBody>
          <a:bodyPr wrap="square">
            <a:spAutoFit/>
          </a:bodyPr>
          <a:lstStyle/>
          <a:p>
            <a:pPr algn="ctr">
              <a:defRPr sz="1400" b="0">
                <a:solidFill>
                  <a:srgbClr val="E8EEF4"/>
                </a:solidFill>
                <a:latin typeface="Calibri"/>
              </a:defRPr>
            </a:pPr>
            <a:r>
              <a:t>Sonnet</a:t>
            </a:r>
          </a:p>
        </p:txBody>
      </p:sp>
      <p:sp>
        <p:nvSpPr>
          <p:cNvPr id="34" name="Rectangle 33"/>
          <p:cNvSpPr/>
          <p:nvPr/>
        </p:nvSpPr>
        <p:spPr>
          <a:xfrm>
            <a:off x="8412479" y="3291839"/>
            <a:ext cx="2560320" cy="502920"/>
          </a:xfrm>
          <a:prstGeom prst="rect">
            <a:avLst/>
          </a:prstGeom>
          <a:solidFill>
            <a:srgbClr val="15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39" y="3342639"/>
            <a:ext cx="2286000" cy="502920"/>
          </a:xfrm>
          <a:prstGeom prst="rect">
            <a:avLst/>
          </a:prstGeom>
          <a:noFill/>
        </p:spPr>
        <p:txBody>
          <a:bodyPr wrap="square">
            <a:spAutoFit/>
          </a:bodyPr>
          <a:lstStyle/>
          <a:p>
            <a:pPr algn="ctr">
              <a:defRPr sz="1400" b="0">
                <a:solidFill>
                  <a:srgbClr val="E8EEF4"/>
                </a:solidFill>
                <a:latin typeface="Calibri"/>
              </a:defRPr>
            </a:pPr>
            <a:r>
              <a:t>Haiku</a:t>
            </a:r>
          </a:p>
        </p:txBody>
      </p:sp>
      <p:sp>
        <p:nvSpPr>
          <p:cNvPr id="36" name="TextBox 35"/>
          <p:cNvSpPr txBox="1"/>
          <p:nvPr/>
        </p:nvSpPr>
        <p:spPr>
          <a:xfrm>
            <a:off x="731520" y="4114800"/>
            <a:ext cx="4572000" cy="365760"/>
          </a:xfrm>
          <a:prstGeom prst="rect">
            <a:avLst/>
          </a:prstGeom>
          <a:noFill/>
        </p:spPr>
        <p:txBody>
          <a:bodyPr wrap="square">
            <a:spAutoFit/>
          </a:bodyPr>
          <a:lstStyle/>
          <a:p>
            <a:pPr algn="l">
              <a:defRPr sz="1800" b="1">
                <a:solidFill>
                  <a:srgbClr val="00B4D8"/>
                </a:solidFill>
                <a:latin typeface="Calibri"/>
              </a:defRPr>
            </a:pPr>
            <a:r>
              <a:t>OTHER SETTINGS</a:t>
            </a:r>
          </a:p>
        </p:txBody>
      </p:sp>
      <p:sp>
        <p:nvSpPr>
          <p:cNvPr id="37" name="TextBox 36"/>
          <p:cNvSpPr txBox="1"/>
          <p:nvPr/>
        </p:nvSpPr>
        <p:spPr>
          <a:xfrm>
            <a:off x="731520" y="4663440"/>
            <a:ext cx="2286000" cy="365760"/>
          </a:xfrm>
          <a:prstGeom prst="rect">
            <a:avLst/>
          </a:prstGeom>
          <a:noFill/>
        </p:spPr>
        <p:txBody>
          <a:bodyPr wrap="square">
            <a:spAutoFit/>
          </a:bodyPr>
          <a:lstStyle/>
          <a:p>
            <a:pPr algn="l">
              <a:defRPr sz="1300" b="1">
                <a:solidFill>
                  <a:srgbClr val="FF6B35"/>
                </a:solidFill>
                <a:latin typeface="Calibri"/>
              </a:defRPr>
            </a:pPr>
            <a:r>
              <a:t>Execution Mode</a:t>
            </a:r>
          </a:p>
        </p:txBody>
      </p:sp>
      <p:sp>
        <p:nvSpPr>
          <p:cNvPr id="38" name="TextBox 37"/>
          <p:cNvSpPr txBox="1"/>
          <p:nvPr/>
        </p:nvSpPr>
        <p:spPr>
          <a:xfrm>
            <a:off x="3200400" y="4663440"/>
            <a:ext cx="8229600" cy="365760"/>
          </a:xfrm>
          <a:prstGeom prst="rect">
            <a:avLst/>
          </a:prstGeom>
          <a:noFill/>
        </p:spPr>
        <p:txBody>
          <a:bodyPr wrap="square">
            <a:spAutoFit/>
          </a:bodyPr>
          <a:lstStyle/>
          <a:p>
            <a:pPr algn="l">
              <a:defRPr sz="1300" b="0">
                <a:solidFill>
                  <a:srgbClr val="E8EEF4"/>
                </a:solidFill>
                <a:latin typeface="Calibri"/>
              </a:defRPr>
            </a:pPr>
            <a:r>
              <a:t>interactive (confirm) | yolo (auto-approve)</a:t>
            </a:r>
          </a:p>
        </p:txBody>
      </p:sp>
      <p:sp>
        <p:nvSpPr>
          <p:cNvPr id="39" name="TextBox 38"/>
          <p:cNvSpPr txBox="1"/>
          <p:nvPr/>
        </p:nvSpPr>
        <p:spPr>
          <a:xfrm>
            <a:off x="731520" y="5074920"/>
            <a:ext cx="2286000" cy="365760"/>
          </a:xfrm>
          <a:prstGeom prst="rect">
            <a:avLst/>
          </a:prstGeom>
          <a:noFill/>
        </p:spPr>
        <p:txBody>
          <a:bodyPr wrap="square">
            <a:spAutoFit/>
          </a:bodyPr>
          <a:lstStyle/>
          <a:p>
            <a:pPr algn="l">
              <a:defRPr sz="1300" b="1">
                <a:solidFill>
                  <a:srgbClr val="FF6B35"/>
                </a:solidFill>
                <a:latin typeface="Calibri"/>
              </a:defRPr>
            </a:pPr>
            <a:r>
              <a:t>Planning Depth</a:t>
            </a:r>
          </a:p>
        </p:txBody>
      </p:sp>
      <p:sp>
        <p:nvSpPr>
          <p:cNvPr id="40" name="TextBox 39"/>
          <p:cNvSpPr txBox="1"/>
          <p:nvPr/>
        </p:nvSpPr>
        <p:spPr>
          <a:xfrm>
            <a:off x="3200400" y="5074920"/>
            <a:ext cx="8229600" cy="365760"/>
          </a:xfrm>
          <a:prstGeom prst="rect">
            <a:avLst/>
          </a:prstGeom>
          <a:noFill/>
        </p:spPr>
        <p:txBody>
          <a:bodyPr wrap="square">
            <a:spAutoFit/>
          </a:bodyPr>
          <a:lstStyle/>
          <a:p>
            <a:pPr algn="l">
              <a:defRPr sz="1300" b="0">
                <a:solidFill>
                  <a:srgbClr val="E8EEF4"/>
                </a:solidFill>
                <a:latin typeface="Calibri"/>
              </a:defRPr>
            </a:pPr>
            <a:r>
              <a:t>quick (1-3) | standard (3-5) | comprehensive (5-10)</a:t>
            </a:r>
          </a:p>
        </p:txBody>
      </p:sp>
      <p:sp>
        <p:nvSpPr>
          <p:cNvPr id="41" name="TextBox 40"/>
          <p:cNvSpPr txBox="1"/>
          <p:nvPr/>
        </p:nvSpPr>
        <p:spPr>
          <a:xfrm>
            <a:off x="731520" y="5486400"/>
            <a:ext cx="2286000" cy="365760"/>
          </a:xfrm>
          <a:prstGeom prst="rect">
            <a:avLst/>
          </a:prstGeom>
          <a:noFill/>
        </p:spPr>
        <p:txBody>
          <a:bodyPr wrap="square">
            <a:spAutoFit/>
          </a:bodyPr>
          <a:lstStyle/>
          <a:p>
            <a:pPr algn="l">
              <a:defRPr sz="1300" b="1">
                <a:solidFill>
                  <a:srgbClr val="FF6B35"/>
                </a:solidFill>
                <a:latin typeface="Calibri"/>
              </a:defRPr>
            </a:pPr>
            <a:r>
              <a:t>Workflow Agents</a:t>
            </a:r>
          </a:p>
        </p:txBody>
      </p:sp>
      <p:sp>
        <p:nvSpPr>
          <p:cNvPr id="42" name="TextBox 41"/>
          <p:cNvSpPr txBox="1"/>
          <p:nvPr/>
        </p:nvSpPr>
        <p:spPr>
          <a:xfrm>
            <a:off x="3200400" y="5486400"/>
            <a:ext cx="8229600" cy="365760"/>
          </a:xfrm>
          <a:prstGeom prst="rect">
            <a:avLst/>
          </a:prstGeom>
          <a:noFill/>
        </p:spPr>
        <p:txBody>
          <a:bodyPr wrap="square">
            <a:spAutoFit/>
          </a:bodyPr>
          <a:lstStyle/>
          <a:p>
            <a:pPr algn="l">
              <a:defRPr sz="1300" b="0">
                <a:solidFill>
                  <a:srgbClr val="E8EEF4"/>
                </a:solidFill>
                <a:latin typeface="Calibri"/>
              </a:defRPr>
            </a:pPr>
            <a:r>
              <a:t>Research, Plan Checker, Verifier — all toggleable</a:t>
            </a:r>
          </a:p>
        </p:txBody>
      </p:sp>
      <p:sp>
        <p:nvSpPr>
          <p:cNvPr id="43" name="TextBox 42"/>
          <p:cNvSpPr txBox="1"/>
          <p:nvPr/>
        </p:nvSpPr>
        <p:spPr>
          <a:xfrm>
            <a:off x="731520" y="5897880"/>
            <a:ext cx="2286000" cy="365760"/>
          </a:xfrm>
          <a:prstGeom prst="rect">
            <a:avLst/>
          </a:prstGeom>
          <a:noFill/>
        </p:spPr>
        <p:txBody>
          <a:bodyPr wrap="square">
            <a:spAutoFit/>
          </a:bodyPr>
          <a:lstStyle/>
          <a:p>
            <a:pPr algn="l">
              <a:defRPr sz="1300" b="1">
                <a:solidFill>
                  <a:srgbClr val="FF6B35"/>
                </a:solidFill>
                <a:latin typeface="Calibri"/>
              </a:defRPr>
            </a:pPr>
            <a:r>
              <a:t>Git Branching</a:t>
            </a:r>
          </a:p>
        </p:txBody>
      </p:sp>
      <p:sp>
        <p:nvSpPr>
          <p:cNvPr id="44" name="TextBox 43"/>
          <p:cNvSpPr txBox="1"/>
          <p:nvPr/>
        </p:nvSpPr>
        <p:spPr>
          <a:xfrm>
            <a:off x="3200400" y="5897880"/>
            <a:ext cx="8229600" cy="365760"/>
          </a:xfrm>
          <a:prstGeom prst="rect">
            <a:avLst/>
          </a:prstGeom>
          <a:noFill/>
        </p:spPr>
        <p:txBody>
          <a:bodyPr wrap="square">
            <a:spAutoFit/>
          </a:bodyPr>
          <a:lstStyle/>
          <a:p>
            <a:pPr algn="l">
              <a:defRPr sz="1300" b="0">
                <a:solidFill>
                  <a:srgbClr val="E8EEF4"/>
                </a:solidFill>
                <a:latin typeface="Calibri"/>
              </a:defRPr>
            </a:pPr>
            <a:r>
              <a:t>none | per-phase | per-milestone</a:t>
            </a:r>
          </a:p>
        </p:txBody>
      </p:sp>
      <p:sp>
        <p:nvSpPr>
          <p:cNvPr id="45" name="TextBox 44"/>
          <p:cNvSpPr txBox="1"/>
          <p:nvPr/>
        </p:nvSpPr>
        <p:spPr>
          <a:xfrm>
            <a:off x="731520" y="6309360"/>
            <a:ext cx="2286000" cy="365760"/>
          </a:xfrm>
          <a:prstGeom prst="rect">
            <a:avLst/>
          </a:prstGeom>
          <a:noFill/>
        </p:spPr>
        <p:txBody>
          <a:bodyPr wrap="square">
            <a:spAutoFit/>
          </a:bodyPr>
          <a:lstStyle/>
          <a:p>
            <a:pPr algn="l">
              <a:defRPr sz="1300" b="1">
                <a:solidFill>
                  <a:srgbClr val="FF6B35"/>
                </a:solidFill>
                <a:latin typeface="Calibri"/>
              </a:defRPr>
            </a:pPr>
            <a:r>
              <a:t>Parallelisation</a:t>
            </a:r>
          </a:p>
        </p:txBody>
      </p:sp>
      <p:sp>
        <p:nvSpPr>
          <p:cNvPr id="46" name="TextBox 45"/>
          <p:cNvSpPr txBox="1"/>
          <p:nvPr/>
        </p:nvSpPr>
        <p:spPr>
          <a:xfrm>
            <a:off x="3200400" y="6309360"/>
            <a:ext cx="8229600" cy="365760"/>
          </a:xfrm>
          <a:prstGeom prst="rect">
            <a:avLst/>
          </a:prstGeom>
          <a:noFill/>
        </p:spPr>
        <p:txBody>
          <a:bodyPr wrap="square">
            <a:spAutoFit/>
          </a:bodyPr>
          <a:lstStyle/>
          <a:p>
            <a:pPr algn="l">
              <a:defRPr sz="1300" b="0">
                <a:solidFill>
                  <a:srgbClr val="E8EEF4"/>
                </a:solidFill>
                <a:latin typeface="Calibri"/>
              </a:defRPr>
            </a:pPr>
            <a:r>
              <a:t>Enabled by default — independent plans run simultaneously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FLEXIBILITY BUILT IN</a:t>
            </a:r>
          </a:p>
        </p:txBody>
      </p:sp>
      <p:sp>
        <p:nvSpPr>
          <p:cNvPr id="3" name="Rectangle 2"/>
          <p:cNvSpPr/>
          <p:nvPr/>
        </p:nvSpPr>
        <p:spPr>
          <a:xfrm>
            <a:off x="731520" y="1097280"/>
            <a:ext cx="22860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554480"/>
            <a:ext cx="3566160" cy="484632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3017520" cy="365760"/>
          </a:xfrm>
          <a:prstGeom prst="rect">
            <a:avLst/>
          </a:prstGeom>
          <a:noFill/>
        </p:spPr>
        <p:txBody>
          <a:bodyPr wrap="square">
            <a:spAutoFit/>
          </a:bodyPr>
          <a:lstStyle/>
          <a:p>
            <a:pPr algn="l">
              <a:defRPr sz="1800" b="1">
                <a:solidFill>
                  <a:srgbClr val="00B4D8"/>
                </a:solidFill>
                <a:latin typeface="Calibri"/>
              </a:defRPr>
            </a:pPr>
            <a:r>
              <a:t>⚡  QUICK MODE</a:t>
            </a:r>
          </a:p>
        </p:txBody>
      </p:sp>
      <p:sp>
        <p:nvSpPr>
          <p:cNvPr id="6" name="TextBox 5"/>
          <p:cNvSpPr txBox="1"/>
          <p:nvPr/>
        </p:nvSpPr>
        <p:spPr>
          <a:xfrm>
            <a:off x="731520" y="2286000"/>
            <a:ext cx="3017520" cy="457200"/>
          </a:xfrm>
          <a:prstGeom prst="rect">
            <a:avLst/>
          </a:prstGeom>
          <a:noFill/>
        </p:spPr>
        <p:txBody>
          <a:bodyPr wrap="square">
            <a:spAutoFit/>
          </a:bodyPr>
          <a:lstStyle/>
          <a:p>
            <a:pPr algn="l">
              <a:defRPr sz="1200" b="0">
                <a:solidFill>
                  <a:srgbClr val="CCCCCC"/>
                </a:solidFill>
                <a:latin typeface="Calibri"/>
              </a:defRPr>
            </a:pPr>
            <a:r>
              <a:t>/gsd:quick</a:t>
            </a:r>
          </a:p>
        </p:txBody>
      </p:sp>
      <p:sp>
        <p:nvSpPr>
          <p:cNvPr id="7" name="TextBox 6"/>
          <p:cNvSpPr txBox="1"/>
          <p:nvPr/>
        </p:nvSpPr>
        <p:spPr>
          <a:xfrm>
            <a:off x="731520" y="3017520"/>
            <a:ext cx="3017520" cy="2926080"/>
          </a:xfrm>
          <a:prstGeom prst="rect">
            <a:avLst/>
          </a:prstGeom>
          <a:noFill/>
        </p:spPr>
        <p:txBody>
          <a:bodyPr wrap="square">
            <a:spAutoFit/>
          </a:bodyPr>
          <a:lstStyle/>
          <a:p>
            <a:pPr>
              <a:spcAft>
                <a:spcPts val="1000"/>
              </a:spcAft>
              <a:defRPr sz="1300">
                <a:solidFill>
                  <a:srgbClr val="E8EEF4"/>
                </a:solidFill>
                <a:latin typeface="Calibri"/>
              </a:defRPr>
            </a:pPr>
            <a:r>
              <a:t>Ad-hoc tasks with GSD guarantees</a:t>
            </a:r>
          </a:p>
          <a:p>
            <a:pPr>
              <a:spcAft>
                <a:spcPts val="1000"/>
              </a:spcAft>
              <a:defRPr sz="1300">
                <a:solidFill>
                  <a:srgbClr val="E8EEF4"/>
                </a:solidFill>
                <a:latin typeface="Calibri"/>
              </a:defRPr>
            </a:pPr>
            <a:r>
              <a:t>Same planner + executor agents</a:t>
            </a:r>
          </a:p>
          <a:p>
            <a:pPr>
              <a:spcAft>
                <a:spcPts val="1000"/>
              </a:spcAft>
              <a:defRPr sz="1300">
                <a:solidFill>
                  <a:srgbClr val="E8EEF4"/>
                </a:solidFill>
                <a:latin typeface="Calibri"/>
              </a:defRPr>
            </a:pPr>
            <a:r>
              <a:t>Skips research &amp; verification</a:t>
            </a:r>
          </a:p>
          <a:p>
            <a:pPr>
              <a:spcAft>
                <a:spcPts val="1000"/>
              </a:spcAft>
              <a:defRPr sz="1300">
                <a:solidFill>
                  <a:srgbClr val="E8EEF4"/>
                </a:solidFill>
                <a:latin typeface="Calibri"/>
              </a:defRPr>
            </a:pPr>
            <a:r>
              <a:t>Bug fixes, small features, config</a:t>
            </a:r>
          </a:p>
        </p:txBody>
      </p:sp>
      <p:sp>
        <p:nvSpPr>
          <p:cNvPr id="8" name="Rounded Rectangle 7"/>
          <p:cNvSpPr/>
          <p:nvPr/>
        </p:nvSpPr>
        <p:spPr>
          <a:xfrm>
            <a:off x="4297680" y="1554480"/>
            <a:ext cx="3566160" cy="484632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737360"/>
            <a:ext cx="3017520" cy="365760"/>
          </a:xfrm>
          <a:prstGeom prst="rect">
            <a:avLst/>
          </a:prstGeom>
          <a:noFill/>
        </p:spPr>
        <p:txBody>
          <a:bodyPr wrap="square">
            <a:spAutoFit/>
          </a:bodyPr>
          <a:lstStyle/>
          <a:p>
            <a:pPr algn="l">
              <a:defRPr sz="1800" b="1">
                <a:solidFill>
                  <a:srgbClr val="FF6B35"/>
                </a:solidFill>
                <a:latin typeface="Calibri"/>
              </a:defRPr>
            </a:pPr>
            <a:r>
              <a:t>⏯  SESSION MANAGEMENT</a:t>
            </a:r>
          </a:p>
        </p:txBody>
      </p:sp>
      <p:sp>
        <p:nvSpPr>
          <p:cNvPr id="10" name="TextBox 9"/>
          <p:cNvSpPr txBox="1"/>
          <p:nvPr/>
        </p:nvSpPr>
        <p:spPr>
          <a:xfrm>
            <a:off x="4572000" y="2286000"/>
            <a:ext cx="3017520" cy="457200"/>
          </a:xfrm>
          <a:prstGeom prst="rect">
            <a:avLst/>
          </a:prstGeom>
          <a:noFill/>
        </p:spPr>
        <p:txBody>
          <a:bodyPr wrap="square">
            <a:spAutoFit/>
          </a:bodyPr>
          <a:lstStyle/>
          <a:p>
            <a:pPr algn="l">
              <a:defRPr sz="1200" b="0">
                <a:solidFill>
                  <a:srgbClr val="CCCCCC"/>
                </a:solidFill>
                <a:latin typeface="Calibri"/>
              </a:defRPr>
            </a:pPr>
            <a:r>
              <a:t>/gsd:pause-work</a:t>
            </a:r>
            <a:br/>
            <a:r>
              <a:t>/gsd:resume-work</a:t>
            </a:r>
          </a:p>
        </p:txBody>
      </p:sp>
      <p:sp>
        <p:nvSpPr>
          <p:cNvPr id="11" name="TextBox 10"/>
          <p:cNvSpPr txBox="1"/>
          <p:nvPr/>
        </p:nvSpPr>
        <p:spPr>
          <a:xfrm>
            <a:off x="4572000" y="3017520"/>
            <a:ext cx="3017520" cy="2926080"/>
          </a:xfrm>
          <a:prstGeom prst="rect">
            <a:avLst/>
          </a:prstGeom>
          <a:noFill/>
        </p:spPr>
        <p:txBody>
          <a:bodyPr wrap="square">
            <a:spAutoFit/>
          </a:bodyPr>
          <a:lstStyle/>
          <a:p>
            <a:pPr>
              <a:spcAft>
                <a:spcPts val="1000"/>
              </a:spcAft>
              <a:defRPr sz="1300">
                <a:solidFill>
                  <a:srgbClr val="E8EEF4"/>
                </a:solidFill>
                <a:latin typeface="Calibri"/>
              </a:defRPr>
            </a:pPr>
            <a:r>
              <a:t>Pause mid-phase, resume later</a:t>
            </a:r>
          </a:p>
          <a:p>
            <a:pPr>
              <a:spcAft>
                <a:spcPts val="1000"/>
              </a:spcAft>
              <a:defRPr sz="1300">
                <a:solidFill>
                  <a:srgbClr val="E8EEF4"/>
                </a:solidFill>
                <a:latin typeface="Calibri"/>
              </a:defRPr>
            </a:pPr>
            <a:r>
              <a:t>Full context restoration</a:t>
            </a:r>
          </a:p>
          <a:p>
            <a:pPr>
              <a:spcAft>
                <a:spcPts val="1000"/>
              </a:spcAft>
              <a:defRPr sz="1300">
                <a:solidFill>
                  <a:srgbClr val="E8EEF4"/>
                </a:solidFill>
                <a:latin typeface="Calibri"/>
              </a:defRPr>
            </a:pPr>
            <a:r>
              <a:t>STATE.md tracks everything</a:t>
            </a:r>
          </a:p>
          <a:p>
            <a:pPr>
              <a:spcAft>
                <a:spcPts val="1000"/>
              </a:spcAft>
              <a:defRPr sz="1300">
                <a:solidFill>
                  <a:srgbClr val="E8EEF4"/>
                </a:solidFill>
                <a:latin typeface="Calibri"/>
              </a:defRPr>
            </a:pPr>
            <a:r>
              <a:t>No lost work across resets</a:t>
            </a:r>
          </a:p>
        </p:txBody>
      </p:sp>
      <p:sp>
        <p:nvSpPr>
          <p:cNvPr id="12" name="Rounded Rectangle 11"/>
          <p:cNvSpPr/>
          <p:nvPr/>
        </p:nvSpPr>
        <p:spPr>
          <a:xfrm>
            <a:off x="8138160" y="1554480"/>
            <a:ext cx="3566160" cy="484632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737360"/>
            <a:ext cx="3017520" cy="365760"/>
          </a:xfrm>
          <a:prstGeom prst="rect">
            <a:avLst/>
          </a:prstGeom>
          <a:noFill/>
        </p:spPr>
        <p:txBody>
          <a:bodyPr wrap="square">
            <a:spAutoFit/>
          </a:bodyPr>
          <a:lstStyle/>
          <a:p>
            <a:pPr algn="l">
              <a:defRPr sz="1800" b="1">
                <a:solidFill>
                  <a:srgbClr val="2ECC71"/>
                </a:solidFill>
                <a:latin typeface="Calibri"/>
              </a:defRPr>
            </a:pPr>
            <a:r>
              <a:t>[B]  BROWNFIELD SUPPORT</a:t>
            </a:r>
          </a:p>
        </p:txBody>
      </p:sp>
      <p:sp>
        <p:nvSpPr>
          <p:cNvPr id="14" name="TextBox 13"/>
          <p:cNvSpPr txBox="1"/>
          <p:nvPr/>
        </p:nvSpPr>
        <p:spPr>
          <a:xfrm>
            <a:off x="8412480" y="2286000"/>
            <a:ext cx="3017520" cy="457200"/>
          </a:xfrm>
          <a:prstGeom prst="rect">
            <a:avLst/>
          </a:prstGeom>
          <a:noFill/>
        </p:spPr>
        <p:txBody>
          <a:bodyPr wrap="square">
            <a:spAutoFit/>
          </a:bodyPr>
          <a:lstStyle/>
          <a:p>
            <a:pPr algn="l">
              <a:defRPr sz="1200" b="0">
                <a:solidFill>
                  <a:srgbClr val="CCCCCC"/>
                </a:solidFill>
                <a:latin typeface="Calibri"/>
              </a:defRPr>
            </a:pPr>
            <a:r>
              <a:t>/gsd:map-codebase</a:t>
            </a:r>
          </a:p>
        </p:txBody>
      </p:sp>
      <p:sp>
        <p:nvSpPr>
          <p:cNvPr id="15" name="TextBox 14"/>
          <p:cNvSpPr txBox="1"/>
          <p:nvPr/>
        </p:nvSpPr>
        <p:spPr>
          <a:xfrm>
            <a:off x="8412480" y="3017520"/>
            <a:ext cx="3017520" cy="2926080"/>
          </a:xfrm>
          <a:prstGeom prst="rect">
            <a:avLst/>
          </a:prstGeom>
          <a:noFill/>
        </p:spPr>
        <p:txBody>
          <a:bodyPr wrap="square">
            <a:spAutoFit/>
          </a:bodyPr>
          <a:lstStyle/>
          <a:p>
            <a:pPr>
              <a:spcAft>
                <a:spcPts val="1000"/>
              </a:spcAft>
              <a:defRPr sz="1300">
                <a:solidFill>
                  <a:srgbClr val="E8EEF4"/>
                </a:solidFill>
                <a:latin typeface="Calibri"/>
              </a:defRPr>
            </a:pPr>
            <a:r>
              <a:t>Analyse existing codebases</a:t>
            </a:r>
          </a:p>
          <a:p>
            <a:pPr>
              <a:spcAft>
                <a:spcPts val="1000"/>
              </a:spcAft>
              <a:defRPr sz="1300">
                <a:solidFill>
                  <a:srgbClr val="E8EEF4"/>
                </a:solidFill>
                <a:latin typeface="Calibri"/>
              </a:defRPr>
            </a:pPr>
            <a:r>
              <a:t>Parallel agents: stack, arch, conventions</a:t>
            </a:r>
          </a:p>
          <a:p>
            <a:pPr>
              <a:spcAft>
                <a:spcPts val="1000"/>
              </a:spcAft>
              <a:defRPr sz="1300">
                <a:solidFill>
                  <a:srgbClr val="E8EEF4"/>
                </a:solidFill>
                <a:latin typeface="Calibri"/>
              </a:defRPr>
            </a:pPr>
            <a:r>
              <a:t>new-project knows your patterns</a:t>
            </a:r>
          </a:p>
          <a:p>
            <a:pPr>
              <a:spcAft>
                <a:spcPts val="1000"/>
              </a:spcAft>
              <a:defRPr sz="1300">
                <a:solidFill>
                  <a:srgbClr val="E8EEF4"/>
                </a:solidFill>
                <a:latin typeface="Calibri"/>
              </a:defRPr>
            </a:pPr>
            <a:r>
              <a:t>Questions focus on what's new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WHY THIS MATTERS</a:t>
            </a:r>
          </a:p>
        </p:txBody>
      </p:sp>
      <p:sp>
        <p:nvSpPr>
          <p:cNvPr id="3" name="Rectangle 2"/>
          <p:cNvSpPr/>
          <p:nvPr/>
        </p:nvSpPr>
        <p:spPr>
          <a:xfrm>
            <a:off x="731520" y="1097280"/>
            <a:ext cx="22860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2743200" cy="2743200"/>
          </a:xfrm>
          <a:prstGeom prst="roundRect">
            <a:avLst/>
          </a:prstGeom>
          <a:solidFill>
            <a:srgbClr val="15223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27432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11680"/>
            <a:ext cx="2194560" cy="731520"/>
          </a:xfrm>
          <a:prstGeom prst="rect">
            <a:avLst/>
          </a:prstGeom>
          <a:noFill/>
        </p:spPr>
        <p:txBody>
          <a:bodyPr wrap="square">
            <a:spAutoFit/>
          </a:bodyPr>
          <a:lstStyle/>
          <a:p>
            <a:pPr algn="ctr">
              <a:defRPr sz="1800" b="1">
                <a:solidFill>
                  <a:srgbClr val="00B4D8"/>
                </a:solidFill>
                <a:latin typeface="Calibri"/>
              </a:defRPr>
            </a:pPr>
            <a:r>
              <a:t>CONSISTENT</a:t>
            </a:r>
            <a:br/>
            <a:r>
              <a:t>QUALITY</a:t>
            </a:r>
          </a:p>
        </p:txBody>
      </p:sp>
      <p:sp>
        <p:nvSpPr>
          <p:cNvPr id="7" name="TextBox 6"/>
          <p:cNvSpPr txBox="1"/>
          <p:nvPr/>
        </p:nvSpPr>
        <p:spPr>
          <a:xfrm>
            <a:off x="731520" y="3017520"/>
            <a:ext cx="2194560" cy="1188720"/>
          </a:xfrm>
          <a:prstGeom prst="rect">
            <a:avLst/>
          </a:prstGeom>
          <a:noFill/>
        </p:spPr>
        <p:txBody>
          <a:bodyPr wrap="square">
            <a:spAutoFit/>
          </a:bodyPr>
          <a:lstStyle/>
          <a:p>
            <a:pPr algn="ctr">
              <a:defRPr sz="1300" b="0">
                <a:solidFill>
                  <a:srgbClr val="E8EEF4"/>
                </a:solidFill>
                <a:latin typeface="Calibri"/>
              </a:defRPr>
            </a:pPr>
            <a:r>
              <a:t>Fresh contexts prevent</a:t>
            </a:r>
            <a:br/>
            <a:r>
              <a:t>degradation. Verification</a:t>
            </a:r>
            <a:br/>
            <a:r>
              <a:t>ensures goals are met.</a:t>
            </a:r>
          </a:p>
        </p:txBody>
      </p:sp>
      <p:sp>
        <p:nvSpPr>
          <p:cNvPr id="8" name="Rounded Rectangle 7"/>
          <p:cNvSpPr/>
          <p:nvPr/>
        </p:nvSpPr>
        <p:spPr>
          <a:xfrm>
            <a:off x="3383280" y="1645920"/>
            <a:ext cx="2743200" cy="2743200"/>
          </a:xfrm>
          <a:prstGeom prst="roundRect">
            <a:avLst/>
          </a:prstGeom>
          <a:solidFill>
            <a:srgbClr val="15223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3280" y="1645920"/>
            <a:ext cx="2743200" cy="508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2011680"/>
            <a:ext cx="2194560" cy="731520"/>
          </a:xfrm>
          <a:prstGeom prst="rect">
            <a:avLst/>
          </a:prstGeom>
          <a:noFill/>
        </p:spPr>
        <p:txBody>
          <a:bodyPr wrap="square">
            <a:spAutoFit/>
          </a:bodyPr>
          <a:lstStyle/>
          <a:p>
            <a:pPr algn="ctr">
              <a:defRPr sz="1800" b="1">
                <a:solidFill>
                  <a:srgbClr val="2ECC71"/>
                </a:solidFill>
                <a:latin typeface="Calibri"/>
              </a:defRPr>
            </a:pPr>
            <a:r>
              <a:t>FULL</a:t>
            </a:r>
            <a:br/>
            <a:r>
              <a:t>TRACEABILITY</a:t>
            </a:r>
          </a:p>
        </p:txBody>
      </p:sp>
      <p:sp>
        <p:nvSpPr>
          <p:cNvPr id="11" name="TextBox 10"/>
          <p:cNvSpPr txBox="1"/>
          <p:nvPr/>
        </p:nvSpPr>
        <p:spPr>
          <a:xfrm>
            <a:off x="3657600" y="3017520"/>
            <a:ext cx="2194560" cy="1188720"/>
          </a:xfrm>
          <a:prstGeom prst="rect">
            <a:avLst/>
          </a:prstGeom>
          <a:noFill/>
        </p:spPr>
        <p:txBody>
          <a:bodyPr wrap="square">
            <a:spAutoFit/>
          </a:bodyPr>
          <a:lstStyle/>
          <a:p>
            <a:pPr algn="ctr">
              <a:defRPr sz="1300" b="0">
                <a:solidFill>
                  <a:srgbClr val="E8EEF4"/>
                </a:solidFill>
                <a:latin typeface="Calibri"/>
              </a:defRPr>
            </a:pPr>
            <a:r>
              <a:t>Atomic commits. Structured</a:t>
            </a:r>
            <a:br/>
            <a:r>
              <a:t>artifacts. Every decision</a:t>
            </a:r>
            <a:br/>
            <a:r>
              <a:t>documented.</a:t>
            </a:r>
          </a:p>
        </p:txBody>
      </p:sp>
      <p:sp>
        <p:nvSpPr>
          <p:cNvPr id="12" name="Rounded Rectangle 11"/>
          <p:cNvSpPr/>
          <p:nvPr/>
        </p:nvSpPr>
        <p:spPr>
          <a:xfrm>
            <a:off x="6309360" y="1645920"/>
            <a:ext cx="2743200" cy="2743200"/>
          </a:xfrm>
          <a:prstGeom prst="roundRect">
            <a:avLst/>
          </a:prstGeom>
          <a:solidFill>
            <a:srgbClr val="15223E"/>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645920"/>
            <a:ext cx="2743200" cy="508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011680"/>
            <a:ext cx="2194560" cy="731520"/>
          </a:xfrm>
          <a:prstGeom prst="rect">
            <a:avLst/>
          </a:prstGeom>
          <a:noFill/>
        </p:spPr>
        <p:txBody>
          <a:bodyPr wrap="square">
            <a:spAutoFit/>
          </a:bodyPr>
          <a:lstStyle/>
          <a:p>
            <a:pPr algn="ctr">
              <a:defRPr sz="1800" b="1">
                <a:solidFill>
                  <a:srgbClr val="FF6B35"/>
                </a:solidFill>
                <a:latin typeface="Calibri"/>
              </a:defRPr>
            </a:pPr>
            <a:r>
              <a:t>MULTI-RUNTIME</a:t>
            </a:r>
            <a:br/>
            <a:r>
              <a:t>SUPPORT</a:t>
            </a:r>
          </a:p>
        </p:txBody>
      </p:sp>
      <p:sp>
        <p:nvSpPr>
          <p:cNvPr id="15" name="TextBox 14"/>
          <p:cNvSpPr txBox="1"/>
          <p:nvPr/>
        </p:nvSpPr>
        <p:spPr>
          <a:xfrm>
            <a:off x="6583680" y="3017520"/>
            <a:ext cx="2194560" cy="1188720"/>
          </a:xfrm>
          <a:prstGeom prst="rect">
            <a:avLst/>
          </a:prstGeom>
          <a:noFill/>
        </p:spPr>
        <p:txBody>
          <a:bodyPr wrap="square">
            <a:spAutoFit/>
          </a:bodyPr>
          <a:lstStyle/>
          <a:p>
            <a:pPr algn="ctr">
              <a:defRPr sz="1300" b="0">
                <a:solidFill>
                  <a:srgbClr val="E8EEF4"/>
                </a:solidFill>
                <a:latin typeface="Calibri"/>
              </a:defRPr>
            </a:pPr>
            <a:r>
              <a:t>Claude Code, OpenCode,</a:t>
            </a:r>
            <a:br/>
            <a:r>
              <a:t>Gemini CLI. No vendor</a:t>
            </a:r>
            <a:br/>
            <a:r>
              <a:t>lock-in.</a:t>
            </a:r>
          </a:p>
        </p:txBody>
      </p:sp>
      <p:sp>
        <p:nvSpPr>
          <p:cNvPr id="16" name="Rounded Rectangle 15"/>
          <p:cNvSpPr/>
          <p:nvPr/>
        </p:nvSpPr>
        <p:spPr>
          <a:xfrm>
            <a:off x="9235440" y="1645920"/>
            <a:ext cx="2743200" cy="2743200"/>
          </a:xfrm>
          <a:prstGeom prst="roundRect">
            <a:avLst/>
          </a:prstGeom>
          <a:solidFill>
            <a:srgbClr val="15223E"/>
          </a:solidFill>
          <a:ln w="12700">
            <a:solidFill>
              <a:srgbClr val="AF7A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35440" y="1645920"/>
            <a:ext cx="2743200" cy="50800"/>
          </a:xfrm>
          <a:prstGeom prst="rect">
            <a:avLst/>
          </a:prstGeom>
          <a:solidFill>
            <a:srgbClr val="A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0" y="2011680"/>
            <a:ext cx="2194560" cy="731520"/>
          </a:xfrm>
          <a:prstGeom prst="rect">
            <a:avLst/>
          </a:prstGeom>
          <a:noFill/>
        </p:spPr>
        <p:txBody>
          <a:bodyPr wrap="square">
            <a:spAutoFit/>
          </a:bodyPr>
          <a:lstStyle/>
          <a:p>
            <a:pPr algn="ctr">
              <a:defRPr sz="1800" b="1">
                <a:solidFill>
                  <a:srgbClr val="AF7AC5"/>
                </a:solidFill>
                <a:latin typeface="Calibri"/>
              </a:defRPr>
            </a:pPr>
            <a:r>
              <a:t>OPEN SOURCE</a:t>
            </a:r>
            <a:br/>
            <a:r>
              <a:t>MIT LICENSE</a:t>
            </a:r>
          </a:p>
        </p:txBody>
      </p:sp>
      <p:sp>
        <p:nvSpPr>
          <p:cNvPr id="19" name="TextBox 18"/>
          <p:cNvSpPr txBox="1"/>
          <p:nvPr/>
        </p:nvSpPr>
        <p:spPr>
          <a:xfrm>
            <a:off x="9509760" y="3017520"/>
            <a:ext cx="2194560" cy="1188720"/>
          </a:xfrm>
          <a:prstGeom prst="rect">
            <a:avLst/>
          </a:prstGeom>
          <a:noFill/>
        </p:spPr>
        <p:txBody>
          <a:bodyPr wrap="square">
            <a:spAutoFit/>
          </a:bodyPr>
          <a:lstStyle/>
          <a:p>
            <a:pPr algn="ctr">
              <a:defRPr sz="1300" b="0">
                <a:solidFill>
                  <a:srgbClr val="E8EEF4"/>
                </a:solidFill>
                <a:latin typeface="Calibri"/>
              </a:defRPr>
            </a:pPr>
            <a:r>
              <a:t>Active community.</a:t>
            </a:r>
            <a:br/>
            <a:r>
              <a:t>Fast evolution. Used</a:t>
            </a:r>
            <a:br/>
            <a:r>
              <a:t>at top tech companies.</a:t>
            </a:r>
          </a:p>
        </p:txBody>
      </p:sp>
      <p:sp>
        <p:nvSpPr>
          <p:cNvPr id="20" name="TextBox 19"/>
          <p:cNvSpPr txBox="1"/>
          <p:nvPr/>
        </p:nvSpPr>
        <p:spPr>
          <a:xfrm>
            <a:off x="731520" y="4846320"/>
            <a:ext cx="10515600" cy="365760"/>
          </a:xfrm>
          <a:prstGeom prst="rect">
            <a:avLst/>
          </a:prstGeom>
          <a:noFill/>
        </p:spPr>
        <p:txBody>
          <a:bodyPr wrap="square">
            <a:spAutoFit/>
          </a:bodyPr>
          <a:lstStyle/>
          <a:p>
            <a:pPr algn="l">
              <a:defRPr sz="1600" b="1">
                <a:solidFill>
                  <a:srgbClr val="00B4D8"/>
                </a:solidFill>
                <a:latin typeface="Calibri"/>
              </a:defRPr>
            </a:pPr>
            <a:r>
              <a:t>FOR TECHNICAL LEADERSHIP</a:t>
            </a:r>
          </a:p>
        </p:txBody>
      </p:sp>
      <p:sp>
        <p:nvSpPr>
          <p:cNvPr id="21" name="TextBox 20"/>
          <p:cNvSpPr txBox="1"/>
          <p:nvPr/>
        </p:nvSpPr>
        <p:spPr>
          <a:xfrm>
            <a:off x="731520" y="5303520"/>
            <a:ext cx="10515600" cy="1371600"/>
          </a:xfrm>
          <a:prstGeom prst="rect">
            <a:avLst/>
          </a:prstGeom>
          <a:noFill/>
        </p:spPr>
        <p:txBody>
          <a:bodyPr wrap="square">
            <a:spAutoFit/>
          </a:bodyPr>
          <a:lstStyle/>
          <a:p>
            <a:pPr>
              <a:spcAft>
                <a:spcPts val="800"/>
              </a:spcAft>
              <a:defRPr sz="1400">
                <a:solidFill>
                  <a:srgbClr val="E8EEF4"/>
                </a:solidFill>
                <a:latin typeface="Calibri"/>
              </a:defRPr>
            </a:pPr>
            <a:r>
              <a:t>▶  Predictable, verifiable output from AI coding assistants — not random vibecoding</a:t>
            </a:r>
          </a:p>
          <a:p>
            <a:pPr>
              <a:spcAft>
                <a:spcPts val="800"/>
              </a:spcAft>
              <a:defRPr sz="1400">
                <a:solidFill>
                  <a:srgbClr val="E8EEF4"/>
                </a:solidFill>
                <a:latin typeface="Calibri"/>
              </a:defRPr>
            </a:pPr>
            <a:r>
              <a:t>▶  Configurable quality/cost tradeoff via model profiles — practical for any budget</a:t>
            </a:r>
          </a:p>
          <a:p>
            <a:pPr>
              <a:spcAft>
                <a:spcPts val="800"/>
              </a:spcAft>
              <a:defRPr sz="1400">
                <a:solidFill>
                  <a:srgbClr val="E8EEF4"/>
                </a:solidFill>
                <a:latin typeface="Calibri"/>
              </a:defRPr>
            </a:pPr>
            <a:r>
              <a:t>▶  Reproducible process — same commands, same workflow, consistent results across developers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A33"/>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Light"/>
              </a:defRPr>
            </a:pPr>
            <a:r>
              <a:t>GET STARTED</a:t>
            </a:r>
          </a:p>
        </p:txBody>
      </p:sp>
      <p:sp>
        <p:nvSpPr>
          <p:cNvPr id="3" name="Rectangle 2"/>
          <p:cNvSpPr/>
          <p:nvPr/>
        </p:nvSpPr>
        <p:spPr>
          <a:xfrm>
            <a:off x="731520" y="1097280"/>
            <a:ext cx="1828800"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605280"/>
            <a:ext cx="457200" cy="4572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1A33"/>
                </a:solidFill>
              </a:defRPr>
            </a:pPr>
            <a:r>
              <a:t>1</a:t>
            </a:r>
          </a:p>
        </p:txBody>
      </p:sp>
      <p:sp>
        <p:nvSpPr>
          <p:cNvPr id="5" name="TextBox 4"/>
          <p:cNvSpPr txBox="1"/>
          <p:nvPr/>
        </p:nvSpPr>
        <p:spPr>
          <a:xfrm>
            <a:off x="1463040" y="1579880"/>
            <a:ext cx="1371600" cy="457200"/>
          </a:xfrm>
          <a:prstGeom prst="rect">
            <a:avLst/>
          </a:prstGeom>
          <a:noFill/>
        </p:spPr>
        <p:txBody>
          <a:bodyPr wrap="square">
            <a:spAutoFit/>
          </a:bodyPr>
          <a:lstStyle/>
          <a:p>
            <a:pPr algn="l">
              <a:defRPr sz="1800" b="1">
                <a:solidFill>
                  <a:srgbClr val="00B4D8"/>
                </a:solidFill>
                <a:latin typeface="Calibri"/>
              </a:defRPr>
            </a:pPr>
            <a:r>
              <a:t>INSTALL</a:t>
            </a:r>
          </a:p>
        </p:txBody>
      </p:sp>
      <p:sp>
        <p:nvSpPr>
          <p:cNvPr id="6" name="Rounded Rectangle 5"/>
          <p:cNvSpPr/>
          <p:nvPr/>
        </p:nvSpPr>
        <p:spPr>
          <a:xfrm>
            <a:off x="3017520" y="1554480"/>
            <a:ext cx="5486400" cy="548640"/>
          </a:xfrm>
          <a:prstGeom prst="roundRect">
            <a:avLst/>
          </a:prstGeom>
          <a:solidFill>
            <a:srgbClr val="0A1228"/>
          </a:solidFill>
          <a:ln w="12700">
            <a:solidFill>
              <a:srgbClr val="33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0" y="1605280"/>
            <a:ext cx="5120640" cy="365760"/>
          </a:xfrm>
          <a:prstGeom prst="rect">
            <a:avLst/>
          </a:prstGeom>
          <a:noFill/>
        </p:spPr>
        <p:txBody>
          <a:bodyPr wrap="square">
            <a:spAutoFit/>
          </a:bodyPr>
          <a:lstStyle/>
          <a:p>
            <a:pPr algn="l">
              <a:defRPr sz="1400" b="0">
                <a:solidFill>
                  <a:srgbClr val="E8EEF4"/>
                </a:solidFill>
                <a:latin typeface="Consolas"/>
              </a:defRPr>
            </a:pPr>
            <a:r>
              <a:t>npx get-shit-done-cc</a:t>
            </a:r>
          </a:p>
        </p:txBody>
      </p:sp>
      <p:sp>
        <p:nvSpPr>
          <p:cNvPr id="8" name="Oval 7"/>
          <p:cNvSpPr/>
          <p:nvPr/>
        </p:nvSpPr>
        <p:spPr>
          <a:xfrm>
            <a:off x="731520" y="2473960"/>
            <a:ext cx="457200" cy="4572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1A33"/>
                </a:solidFill>
              </a:defRPr>
            </a:pPr>
            <a:r>
              <a:t>2</a:t>
            </a:r>
          </a:p>
        </p:txBody>
      </p:sp>
      <p:sp>
        <p:nvSpPr>
          <p:cNvPr id="9" name="TextBox 8"/>
          <p:cNvSpPr txBox="1"/>
          <p:nvPr/>
        </p:nvSpPr>
        <p:spPr>
          <a:xfrm>
            <a:off x="1463040" y="2448560"/>
            <a:ext cx="1371600" cy="457200"/>
          </a:xfrm>
          <a:prstGeom prst="rect">
            <a:avLst/>
          </a:prstGeom>
          <a:noFill/>
        </p:spPr>
        <p:txBody>
          <a:bodyPr wrap="square">
            <a:spAutoFit/>
          </a:bodyPr>
          <a:lstStyle/>
          <a:p>
            <a:pPr algn="l">
              <a:defRPr sz="1800" b="1">
                <a:solidFill>
                  <a:srgbClr val="2ECC71"/>
                </a:solidFill>
                <a:latin typeface="Calibri"/>
              </a:defRPr>
            </a:pPr>
            <a:r>
              <a:t>VERIFY</a:t>
            </a:r>
          </a:p>
        </p:txBody>
      </p:sp>
      <p:sp>
        <p:nvSpPr>
          <p:cNvPr id="10" name="Rounded Rectangle 9"/>
          <p:cNvSpPr/>
          <p:nvPr/>
        </p:nvSpPr>
        <p:spPr>
          <a:xfrm>
            <a:off x="3017520" y="2423160"/>
            <a:ext cx="5486400" cy="548640"/>
          </a:xfrm>
          <a:prstGeom prst="roundRect">
            <a:avLst/>
          </a:prstGeom>
          <a:solidFill>
            <a:srgbClr val="0A1228"/>
          </a:solidFill>
          <a:ln w="12700">
            <a:solidFill>
              <a:srgbClr val="33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2473960"/>
            <a:ext cx="5120640" cy="365760"/>
          </a:xfrm>
          <a:prstGeom prst="rect">
            <a:avLst/>
          </a:prstGeom>
          <a:noFill/>
        </p:spPr>
        <p:txBody>
          <a:bodyPr wrap="square">
            <a:spAutoFit/>
          </a:bodyPr>
          <a:lstStyle/>
          <a:p>
            <a:pPr algn="l">
              <a:defRPr sz="1400" b="0">
                <a:solidFill>
                  <a:srgbClr val="E8EEF4"/>
                </a:solidFill>
                <a:latin typeface="Consolas"/>
              </a:defRPr>
            </a:pPr>
            <a:r>
              <a:t>/gsd:help</a:t>
            </a:r>
          </a:p>
        </p:txBody>
      </p:sp>
      <p:sp>
        <p:nvSpPr>
          <p:cNvPr id="12" name="Oval 11"/>
          <p:cNvSpPr/>
          <p:nvPr/>
        </p:nvSpPr>
        <p:spPr>
          <a:xfrm>
            <a:off x="731520" y="3342640"/>
            <a:ext cx="457200" cy="45720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1A33"/>
                </a:solidFill>
              </a:defRPr>
            </a:pPr>
            <a:r>
              <a:t>3</a:t>
            </a:r>
          </a:p>
        </p:txBody>
      </p:sp>
      <p:sp>
        <p:nvSpPr>
          <p:cNvPr id="13" name="TextBox 12"/>
          <p:cNvSpPr txBox="1"/>
          <p:nvPr/>
        </p:nvSpPr>
        <p:spPr>
          <a:xfrm>
            <a:off x="1463040" y="3317240"/>
            <a:ext cx="1371600" cy="457200"/>
          </a:xfrm>
          <a:prstGeom prst="rect">
            <a:avLst/>
          </a:prstGeom>
          <a:noFill/>
        </p:spPr>
        <p:txBody>
          <a:bodyPr wrap="square">
            <a:spAutoFit/>
          </a:bodyPr>
          <a:lstStyle/>
          <a:p>
            <a:pPr algn="l">
              <a:defRPr sz="1800" b="1">
                <a:solidFill>
                  <a:srgbClr val="FF6B35"/>
                </a:solidFill>
                <a:latin typeface="Calibri"/>
              </a:defRPr>
            </a:pPr>
            <a:r>
              <a:t>INITIALISE</a:t>
            </a:r>
          </a:p>
        </p:txBody>
      </p:sp>
      <p:sp>
        <p:nvSpPr>
          <p:cNvPr id="14" name="Rounded Rectangle 13"/>
          <p:cNvSpPr/>
          <p:nvPr/>
        </p:nvSpPr>
        <p:spPr>
          <a:xfrm>
            <a:off x="3017520" y="3291840"/>
            <a:ext cx="5486400" cy="548640"/>
          </a:xfrm>
          <a:prstGeom prst="roundRect">
            <a:avLst/>
          </a:prstGeom>
          <a:solidFill>
            <a:srgbClr val="0A1228"/>
          </a:solidFill>
          <a:ln w="12700">
            <a:solidFill>
              <a:srgbClr val="33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3342640"/>
            <a:ext cx="5120640" cy="365760"/>
          </a:xfrm>
          <a:prstGeom prst="rect">
            <a:avLst/>
          </a:prstGeom>
          <a:noFill/>
        </p:spPr>
        <p:txBody>
          <a:bodyPr wrap="square">
            <a:spAutoFit/>
          </a:bodyPr>
          <a:lstStyle/>
          <a:p>
            <a:pPr algn="l">
              <a:defRPr sz="1400" b="0">
                <a:solidFill>
                  <a:srgbClr val="E8EEF4"/>
                </a:solidFill>
                <a:latin typeface="Consolas"/>
              </a:defRPr>
            </a:pPr>
            <a:r>
              <a:t>/gsd:new-project  (or /gsd:map-codebase first)</a:t>
            </a:r>
          </a:p>
        </p:txBody>
      </p:sp>
      <p:sp>
        <p:nvSpPr>
          <p:cNvPr id="16" name="Oval 15"/>
          <p:cNvSpPr/>
          <p:nvPr/>
        </p:nvSpPr>
        <p:spPr>
          <a:xfrm>
            <a:off x="731520" y="4211319"/>
            <a:ext cx="457200" cy="457200"/>
          </a:xfrm>
          <a:prstGeom prst="ellipse">
            <a:avLst/>
          </a:prstGeom>
          <a:solidFill>
            <a:srgbClr val="A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1A33"/>
                </a:solidFill>
              </a:defRPr>
            </a:pPr>
            <a:r>
              <a:t>4</a:t>
            </a:r>
          </a:p>
        </p:txBody>
      </p:sp>
      <p:sp>
        <p:nvSpPr>
          <p:cNvPr id="17" name="TextBox 16"/>
          <p:cNvSpPr txBox="1"/>
          <p:nvPr/>
        </p:nvSpPr>
        <p:spPr>
          <a:xfrm>
            <a:off x="1463040" y="4185919"/>
            <a:ext cx="1371600" cy="457200"/>
          </a:xfrm>
          <a:prstGeom prst="rect">
            <a:avLst/>
          </a:prstGeom>
          <a:noFill/>
        </p:spPr>
        <p:txBody>
          <a:bodyPr wrap="square">
            <a:spAutoFit/>
          </a:bodyPr>
          <a:lstStyle/>
          <a:p>
            <a:pPr algn="l">
              <a:defRPr sz="1800" b="1">
                <a:solidFill>
                  <a:srgbClr val="AF7AC5"/>
                </a:solidFill>
                <a:latin typeface="Calibri"/>
              </a:defRPr>
            </a:pPr>
            <a:r>
              <a:t>BUILD</a:t>
            </a:r>
          </a:p>
        </p:txBody>
      </p:sp>
      <p:sp>
        <p:nvSpPr>
          <p:cNvPr id="18" name="Rounded Rectangle 17"/>
          <p:cNvSpPr/>
          <p:nvPr/>
        </p:nvSpPr>
        <p:spPr>
          <a:xfrm>
            <a:off x="3017520" y="4160519"/>
            <a:ext cx="5486400" cy="548640"/>
          </a:xfrm>
          <a:prstGeom prst="roundRect">
            <a:avLst/>
          </a:prstGeom>
          <a:solidFill>
            <a:srgbClr val="0A1228"/>
          </a:solidFill>
          <a:ln w="12700">
            <a:solidFill>
              <a:srgbClr val="33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4211319"/>
            <a:ext cx="5120640" cy="365760"/>
          </a:xfrm>
          <a:prstGeom prst="rect">
            <a:avLst/>
          </a:prstGeom>
          <a:noFill/>
        </p:spPr>
        <p:txBody>
          <a:bodyPr wrap="square">
            <a:spAutoFit/>
          </a:bodyPr>
          <a:lstStyle/>
          <a:p>
            <a:pPr algn="l">
              <a:defRPr sz="1400" b="0">
                <a:solidFill>
                  <a:srgbClr val="E8EEF4"/>
                </a:solidFill>
                <a:latin typeface="Consolas"/>
              </a:defRPr>
            </a:pPr>
            <a:r>
              <a:t>discuss → plan → execute → verify</a:t>
            </a:r>
          </a:p>
        </p:txBody>
      </p:sp>
      <p:sp>
        <p:nvSpPr>
          <p:cNvPr id="20" name="Oval 19"/>
          <p:cNvSpPr/>
          <p:nvPr/>
        </p:nvSpPr>
        <p:spPr>
          <a:xfrm>
            <a:off x="731520" y="5080000"/>
            <a:ext cx="457200" cy="4572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1A33"/>
                </a:solidFill>
              </a:defRPr>
            </a:pPr>
            <a:r>
              <a:t>5</a:t>
            </a:r>
          </a:p>
        </p:txBody>
      </p:sp>
      <p:sp>
        <p:nvSpPr>
          <p:cNvPr id="21" name="TextBox 20"/>
          <p:cNvSpPr txBox="1"/>
          <p:nvPr/>
        </p:nvSpPr>
        <p:spPr>
          <a:xfrm>
            <a:off x="1463040" y="5054600"/>
            <a:ext cx="1371600" cy="457200"/>
          </a:xfrm>
          <a:prstGeom prst="rect">
            <a:avLst/>
          </a:prstGeom>
          <a:noFill/>
        </p:spPr>
        <p:txBody>
          <a:bodyPr wrap="square">
            <a:spAutoFit/>
          </a:bodyPr>
          <a:lstStyle/>
          <a:p>
            <a:pPr algn="l">
              <a:defRPr sz="1800" b="1">
                <a:solidFill>
                  <a:srgbClr val="00B4D8"/>
                </a:solidFill>
                <a:latin typeface="Calibri"/>
              </a:defRPr>
            </a:pPr>
            <a:r>
              <a:t>SHIP</a:t>
            </a:r>
          </a:p>
        </p:txBody>
      </p:sp>
      <p:sp>
        <p:nvSpPr>
          <p:cNvPr id="22" name="Rounded Rectangle 21"/>
          <p:cNvSpPr/>
          <p:nvPr/>
        </p:nvSpPr>
        <p:spPr>
          <a:xfrm>
            <a:off x="3017520" y="5029200"/>
            <a:ext cx="5486400" cy="548640"/>
          </a:xfrm>
          <a:prstGeom prst="roundRect">
            <a:avLst/>
          </a:prstGeom>
          <a:solidFill>
            <a:srgbClr val="0A1228"/>
          </a:solidFill>
          <a:ln w="12700">
            <a:solidFill>
              <a:srgbClr val="33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5080000"/>
            <a:ext cx="5120640" cy="365760"/>
          </a:xfrm>
          <a:prstGeom prst="rect">
            <a:avLst/>
          </a:prstGeom>
          <a:noFill/>
        </p:spPr>
        <p:txBody>
          <a:bodyPr wrap="square">
            <a:spAutoFit/>
          </a:bodyPr>
          <a:lstStyle/>
          <a:p>
            <a:pPr algn="l">
              <a:defRPr sz="1400" b="0">
                <a:solidFill>
                  <a:srgbClr val="E8EEF4"/>
                </a:solidFill>
                <a:latin typeface="Consolas"/>
              </a:defRPr>
            </a:pPr>
            <a:r>
              <a:t>/gsd:complete-milestone</a:t>
            </a:r>
          </a:p>
        </p:txBody>
      </p:sp>
      <p:sp>
        <p:nvSpPr>
          <p:cNvPr id="24" name="TextBox 23"/>
          <p:cNvSpPr txBox="1"/>
          <p:nvPr/>
        </p:nvSpPr>
        <p:spPr>
          <a:xfrm>
            <a:off x="731520" y="5852160"/>
            <a:ext cx="10515600" cy="365760"/>
          </a:xfrm>
          <a:prstGeom prst="rect">
            <a:avLst/>
          </a:prstGeom>
          <a:noFill/>
        </p:spPr>
        <p:txBody>
          <a:bodyPr wrap="square">
            <a:spAutoFit/>
          </a:bodyPr>
          <a:lstStyle/>
          <a:p>
            <a:pPr algn="ctr">
              <a:defRPr sz="1600" b="1">
                <a:solidFill>
                  <a:srgbClr val="00B4D8"/>
                </a:solidFill>
                <a:latin typeface="Calibri"/>
              </a:defRPr>
            </a:pPr>
            <a:r>
              <a:t>RESOURCES</a:t>
            </a:r>
          </a:p>
        </p:txBody>
      </p:sp>
      <p:sp>
        <p:nvSpPr>
          <p:cNvPr id="25" name="TextBox 24"/>
          <p:cNvSpPr txBox="1"/>
          <p:nvPr/>
        </p:nvSpPr>
        <p:spPr>
          <a:xfrm>
            <a:off x="731520" y="6309360"/>
            <a:ext cx="10515600" cy="365760"/>
          </a:xfrm>
          <a:prstGeom prst="rect">
            <a:avLst/>
          </a:prstGeom>
          <a:noFill/>
        </p:spPr>
        <p:txBody>
          <a:bodyPr wrap="square">
            <a:spAutoFit/>
          </a:bodyPr>
          <a:lstStyle/>
          <a:p>
            <a:pPr algn="ctr">
              <a:defRPr sz="1400" b="0">
                <a:solidFill>
                  <a:srgbClr val="CCCCCC"/>
                </a:solidFill>
                <a:latin typeface="Calibri"/>
              </a:defRPr>
            </a:pPr>
            <a:r>
              <a:t>GitHub: github.com/glittercowboy/get-shit-done   |   NPM: get-shit-done-cc   |   Discord: discord.gg/5JJgD5svVS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